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4" r:id="rId4"/>
    <p:sldMasterId id="2147484013" r:id="rId5"/>
  </p:sldMasterIdLst>
  <p:notesMasterIdLst>
    <p:notesMasterId r:id="rId19"/>
  </p:notesMasterIdLst>
  <p:handoutMasterIdLst>
    <p:handoutMasterId r:id="rId20"/>
  </p:handoutMasterIdLst>
  <p:sldIdLst>
    <p:sldId id="270" r:id="rId6"/>
    <p:sldId id="348" r:id="rId7"/>
    <p:sldId id="349" r:id="rId8"/>
    <p:sldId id="351" r:id="rId9"/>
    <p:sldId id="352" r:id="rId10"/>
    <p:sldId id="350" r:id="rId11"/>
    <p:sldId id="353" r:id="rId12"/>
    <p:sldId id="354" r:id="rId13"/>
    <p:sldId id="355" r:id="rId14"/>
    <p:sldId id="303" r:id="rId15"/>
    <p:sldId id="304" r:id="rId16"/>
    <p:sldId id="305" r:id="rId17"/>
    <p:sldId id="262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GEREAU Julien" initials="AJ" lastIdx="1" clrIdx="0">
    <p:extLst>
      <p:ext uri="{19B8F6BF-5375-455C-9EA6-DF929625EA0E}">
        <p15:presenceInfo xmlns:p15="http://schemas.microsoft.com/office/powerpoint/2012/main" userId="S-1-5-21-3198387495-1818796161-3380390422-1286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EAFF"/>
    <a:srgbClr val="C5FBFF"/>
    <a:srgbClr val="B62CFF"/>
    <a:srgbClr val="00ABB8"/>
    <a:srgbClr val="F7DA4A"/>
    <a:srgbClr val="7A50A1"/>
    <a:srgbClr val="FFFFFF"/>
    <a:srgbClr val="FCDC2D"/>
    <a:srgbClr val="FDDB2B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3FE73-1A53-4D83-8487-7360ABC30DC6}" v="2" dt="2025-09-26T12:51:17.7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XIER Sophie" userId="4f6b1fba-0d80-4637-8864-0045dccf3027" providerId="ADAL" clId="{4296174E-F299-44A2-8ED6-CA6878F7DDF8}"/>
    <pc:docChg chg="undo custSel modSld sldOrd">
      <pc:chgData name="TIXIER Sophie" userId="4f6b1fba-0d80-4637-8864-0045dccf3027" providerId="ADAL" clId="{4296174E-F299-44A2-8ED6-CA6878F7DDF8}" dt="2025-10-27T10:25:43.073" v="168" actId="20577"/>
      <pc:docMkLst>
        <pc:docMk/>
      </pc:docMkLst>
      <pc:sldChg chg="modSp mod">
        <pc:chgData name="TIXIER Sophie" userId="4f6b1fba-0d80-4637-8864-0045dccf3027" providerId="ADAL" clId="{4296174E-F299-44A2-8ED6-CA6878F7DDF8}" dt="2025-10-27T10:25:11.682" v="166" actId="20577"/>
        <pc:sldMkLst>
          <pc:docMk/>
          <pc:sldMk cId="1496635613" sldId="270"/>
        </pc:sldMkLst>
        <pc:spChg chg="mod">
          <ac:chgData name="TIXIER Sophie" userId="4f6b1fba-0d80-4637-8864-0045dccf3027" providerId="ADAL" clId="{4296174E-F299-44A2-8ED6-CA6878F7DDF8}" dt="2025-10-27T10:25:11.682" v="166" actId="20577"/>
          <ac:spMkLst>
            <pc:docMk/>
            <pc:sldMk cId="1496635613" sldId="270"/>
            <ac:spMk id="13" creationId="{A50DE700-BA5D-EEA2-6ED1-F1CEDC8D0BEA}"/>
          </ac:spMkLst>
        </pc:spChg>
      </pc:sldChg>
      <pc:sldChg chg="modSp mod">
        <pc:chgData name="TIXIER Sophie" userId="4f6b1fba-0d80-4637-8864-0045dccf3027" providerId="ADAL" clId="{4296174E-F299-44A2-8ED6-CA6878F7DDF8}" dt="2025-09-26T12:41:51.393" v="6" actId="108"/>
        <pc:sldMkLst>
          <pc:docMk/>
          <pc:sldMk cId="965776095" sldId="348"/>
        </pc:sldMkLst>
      </pc:sldChg>
      <pc:sldChg chg="modSp mod ord">
        <pc:chgData name="TIXIER Sophie" userId="4f6b1fba-0d80-4637-8864-0045dccf3027" providerId="ADAL" clId="{4296174E-F299-44A2-8ED6-CA6878F7DDF8}" dt="2025-10-27T10:25:43.073" v="168" actId="20577"/>
        <pc:sldMkLst>
          <pc:docMk/>
          <pc:sldMk cId="723546033" sldId="350"/>
        </pc:sldMkLst>
        <pc:spChg chg="mod">
          <ac:chgData name="TIXIER Sophie" userId="4f6b1fba-0d80-4637-8864-0045dccf3027" providerId="ADAL" clId="{4296174E-F299-44A2-8ED6-CA6878F7DDF8}" dt="2025-10-27T10:25:43.073" v="168" actId="20577"/>
          <ac:spMkLst>
            <pc:docMk/>
            <pc:sldMk cId="723546033" sldId="350"/>
            <ac:spMk id="54" creationId="{0634D47D-8929-F0DD-FFBE-7D2D9C779E0C}"/>
          </ac:spMkLst>
        </pc:spChg>
      </pc:sldChg>
      <pc:sldChg chg="modSp mod">
        <pc:chgData name="TIXIER Sophie" userId="4f6b1fba-0d80-4637-8864-0045dccf3027" providerId="ADAL" clId="{4296174E-F299-44A2-8ED6-CA6878F7DDF8}" dt="2025-09-26T12:58:36.606" v="145" actId="115"/>
        <pc:sldMkLst>
          <pc:docMk/>
          <pc:sldMk cId="3513909858" sldId="351"/>
        </pc:sldMkLst>
      </pc:sldChg>
      <pc:sldChg chg="modSp mod">
        <pc:chgData name="TIXIER Sophie" userId="4f6b1fba-0d80-4637-8864-0045dccf3027" providerId="ADAL" clId="{4296174E-F299-44A2-8ED6-CA6878F7DDF8}" dt="2025-09-26T12:59:57.014" v="146" actId="1076"/>
        <pc:sldMkLst>
          <pc:docMk/>
          <pc:sldMk cId="4203026662" sldId="35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90C109CC-33B4-4F3A-905F-ED20064A47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01A9FFC-0434-485B-BCE3-6B255584FD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6D11-0684-4EF5-905A-F35945517966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8937D87-EEAE-4784-BFDC-45BC225E05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49E739E-B102-4965-962D-A5541C7084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B510C-ACE8-4E2E-A3E3-68A292C0D9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1554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DF05C8-D1D5-468D-8D2E-7619B2496AF1}" type="datetimeFigureOut">
              <a:rPr lang="fr-FR" smtClean="0"/>
              <a:t>27/10/2025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A4288-2D25-4DDB-8133-37A94690B34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842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025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04B0856E-1511-4797-BB80-EA22C5002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6E3F609-3423-49D2-882D-E901270E762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2" name="Image 1" descr="Une image contenant Police, Graphique, noir, logo&#10;&#10;Description générée automatiquement">
            <a:extLst>
              <a:ext uri="{FF2B5EF4-FFF2-40B4-BE49-F238E27FC236}">
                <a16:creationId xmlns:a16="http://schemas.microsoft.com/office/drawing/2014/main" id="{AB6F901E-678A-2892-BFC8-04E8EB9A58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487" y="68826"/>
            <a:ext cx="1912513" cy="796413"/>
          </a:xfrm>
          <a:prstGeom prst="rect">
            <a:avLst/>
          </a:prstGeom>
        </p:spPr>
      </p:pic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2E7869CB-0FFD-3EE9-507F-961282E6FDC6}"/>
              </a:ext>
            </a:extLst>
          </p:cNvPr>
          <p:cNvSpPr/>
          <p:nvPr userDrawn="1"/>
        </p:nvSpPr>
        <p:spPr>
          <a:xfrm rot="10800000">
            <a:off x="-3" y="-1"/>
            <a:ext cx="1454230" cy="2842351"/>
          </a:xfrm>
          <a:prstGeom prst="triangle">
            <a:avLst>
              <a:gd name="adj" fmla="val 100000"/>
            </a:avLst>
          </a:prstGeom>
          <a:solidFill>
            <a:srgbClr val="00EAFF"/>
          </a:solidFill>
          <a:ln>
            <a:solidFill>
              <a:srgbClr val="00EA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802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D, Anim et J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1F4386F-7C87-46C5-9401-D1A4329DC488}"/>
              </a:ext>
            </a:extLst>
          </p:cNvPr>
          <p:cNvSpPr txBox="1">
            <a:spLocks/>
          </p:cNvSpPr>
          <p:nvPr userDrawn="1"/>
        </p:nvSpPr>
        <p:spPr>
          <a:xfrm>
            <a:off x="11691234" y="6466241"/>
            <a:ext cx="47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E5950D3-32C9-46D5-987F-79AA85DADD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0" y="501712"/>
            <a:ext cx="1043931" cy="530384"/>
          </a:xfrm>
          <a:prstGeom prst="rect">
            <a:avLst/>
          </a:prstGeom>
        </p:spPr>
      </p:pic>
      <p:sp>
        <p:nvSpPr>
          <p:cNvPr id="12" name="Titre 1">
            <a:extLst>
              <a:ext uri="{FF2B5EF4-FFF2-40B4-BE49-F238E27FC236}">
                <a16:creationId xmlns:a16="http://schemas.microsoft.com/office/drawing/2014/main" id="{8FE147CA-4D7F-4040-9642-3E82076E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1FE8F301-B956-4A3E-98D0-AABD978EBD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1886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q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1812399-D9F0-4742-A0AB-215E940016A4}"/>
              </a:ext>
            </a:extLst>
          </p:cNvPr>
          <p:cNvSpPr txBox="1">
            <a:spLocks/>
          </p:cNvSpPr>
          <p:nvPr userDrawn="1"/>
        </p:nvSpPr>
        <p:spPr>
          <a:xfrm>
            <a:off x="11691234" y="6466241"/>
            <a:ext cx="47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20B1C20-9A6A-4717-A691-9627E0CD34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0" y="494011"/>
            <a:ext cx="1043931" cy="410216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3127D47A-2848-4368-BBAF-6A4C3E1D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6742E05-6E51-42D4-AD84-7669D1E252A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02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1812399-D9F0-4742-A0AB-215E940016A4}"/>
              </a:ext>
            </a:extLst>
          </p:cNvPr>
          <p:cNvSpPr txBox="1">
            <a:spLocks/>
          </p:cNvSpPr>
          <p:nvPr userDrawn="1"/>
        </p:nvSpPr>
        <p:spPr>
          <a:xfrm>
            <a:off x="11691234" y="6466241"/>
            <a:ext cx="47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6D3E250-0777-4B04-B827-2A27310C9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0" y="488944"/>
            <a:ext cx="1277101" cy="544858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B09DF237-D4D1-48CB-B4A4-E74E63847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DE05A73C-00C8-4942-954F-1514BF9E5B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280653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 et Digital Desig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1812399-D9F0-4742-A0AB-215E940016A4}"/>
              </a:ext>
            </a:extLst>
          </p:cNvPr>
          <p:cNvSpPr txBox="1">
            <a:spLocks/>
          </p:cNvSpPr>
          <p:nvPr userDrawn="1"/>
        </p:nvSpPr>
        <p:spPr>
          <a:xfrm>
            <a:off x="11691234" y="6466241"/>
            <a:ext cx="47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9" name="Image 8" descr="Une image contenant texte, horloge&#10;&#10;Description générée automatiquement">
            <a:extLst>
              <a:ext uri="{FF2B5EF4-FFF2-40B4-BE49-F238E27FC236}">
                <a16:creationId xmlns:a16="http://schemas.microsoft.com/office/drawing/2014/main" id="{2621FBD7-F12C-479A-A34E-BF38F03C6E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40" y="488944"/>
            <a:ext cx="1209911" cy="540598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A538366C-C50F-448A-9E18-89AE94113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E107F402-DA2B-479F-86B0-A6CF5EC042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47637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chi d'intéri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1812399-D9F0-4742-A0AB-215E940016A4}"/>
              </a:ext>
            </a:extLst>
          </p:cNvPr>
          <p:cNvSpPr txBox="1">
            <a:spLocks/>
          </p:cNvSpPr>
          <p:nvPr userDrawn="1"/>
        </p:nvSpPr>
        <p:spPr>
          <a:xfrm>
            <a:off x="11691234" y="6466241"/>
            <a:ext cx="47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Image 9" descr="Une image contenant texte, horloge, signe, jauge&#10;&#10;Description générée automatiquement">
            <a:extLst>
              <a:ext uri="{FF2B5EF4-FFF2-40B4-BE49-F238E27FC236}">
                <a16:creationId xmlns:a16="http://schemas.microsoft.com/office/drawing/2014/main" id="{0CB0BB29-B0C7-45EF-BD55-09FCBFBC14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75" y="488944"/>
            <a:ext cx="1084221" cy="544994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87E4BE9B-6D2B-4AB7-803E-2E718A79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95C06035-576E-4D57-AF85-D1429428C59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395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M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1812399-D9F0-4742-A0AB-215E940016A4}"/>
              </a:ext>
            </a:extLst>
          </p:cNvPr>
          <p:cNvSpPr txBox="1">
            <a:spLocks/>
          </p:cNvSpPr>
          <p:nvPr userDrawn="1"/>
        </p:nvSpPr>
        <p:spPr>
          <a:xfrm>
            <a:off x="11691234" y="6466241"/>
            <a:ext cx="47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680D8BB-5B8A-4893-921B-87916AE86F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75" y="488944"/>
            <a:ext cx="1084221" cy="561419"/>
          </a:xfrm>
          <a:prstGeom prst="rect">
            <a:avLst/>
          </a:prstGeom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930A5E9C-4DDE-43AB-886A-4C9568A9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8C3DD485-46D9-4D5F-AD63-58BC71179E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01347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diovisu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21812399-D9F0-4742-A0AB-215E940016A4}"/>
              </a:ext>
            </a:extLst>
          </p:cNvPr>
          <p:cNvSpPr txBox="1">
            <a:spLocks/>
          </p:cNvSpPr>
          <p:nvPr userDrawn="1"/>
        </p:nvSpPr>
        <p:spPr>
          <a:xfrm>
            <a:off x="11691234" y="6466241"/>
            <a:ext cx="47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10" name="Image 9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9CA3490E-091F-4BFF-A7C1-4C6346EDD2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75" y="488945"/>
            <a:ext cx="1020847" cy="434530"/>
          </a:xfrm>
          <a:prstGeom prst="rect">
            <a:avLst/>
          </a:prstGeom>
        </p:spPr>
      </p:pic>
      <p:sp>
        <p:nvSpPr>
          <p:cNvPr id="13" name="Titre 1">
            <a:extLst>
              <a:ext uri="{FF2B5EF4-FFF2-40B4-BE49-F238E27FC236}">
                <a16:creationId xmlns:a16="http://schemas.microsoft.com/office/drawing/2014/main" id="{15FDA6F1-1A51-4FCD-8F2F-A6B31976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41D51FB6-C1AC-4A1E-AA21-307DF02917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40685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D et Ill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76D5E8E-D36F-4F0B-ACE0-43A8EF20DE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75" y="488945"/>
            <a:ext cx="1275897" cy="569408"/>
          </a:xfrm>
          <a:prstGeom prst="rect">
            <a:avLst/>
          </a:prstGeom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EEF57391-EC02-444A-95AB-08513959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2461" y="290603"/>
            <a:ext cx="9380874" cy="8170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103C8E9-890E-42A9-858E-6A468ABCC8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82461" y="1223866"/>
            <a:ext cx="9380873" cy="4986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0791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465518-4553-4551-A7D4-379A2AC31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143" b="10143"/>
          <a:stretch/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71957208-0CDB-4848-8AFC-5B2671C9F222}"/>
              </a:ext>
            </a:extLst>
          </p:cNvPr>
          <p:cNvSpPr txBox="1">
            <a:spLocks/>
          </p:cNvSpPr>
          <p:nvPr userDrawn="1"/>
        </p:nvSpPr>
        <p:spPr>
          <a:xfrm>
            <a:off x="2758889" y="2641976"/>
            <a:ext cx="7209688" cy="5727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MERCI. </a:t>
            </a:r>
          </a:p>
        </p:txBody>
      </p:sp>
    </p:spTree>
    <p:extLst>
      <p:ext uri="{BB962C8B-B14F-4D97-AF65-F5344CB8AC3E}">
        <p14:creationId xmlns:p14="http://schemas.microsoft.com/office/powerpoint/2010/main" val="409850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4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Century Gothic"/>
                <a:cs typeface="Century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435"/>
              </a:lnSpc>
            </a:pPr>
            <a:fld id="{81D60167-4931-47E6-BA6A-407CBD079E47}" type="slidenum">
              <a:rPr spc="-50" dirty="0"/>
              <a:t>‹N°›</a:t>
            </a:fld>
            <a:endParaRPr spc="-50"/>
          </a:p>
        </p:txBody>
      </p:sp>
    </p:spTree>
    <p:extLst>
      <p:ext uri="{BB962C8B-B14F-4D97-AF65-F5344CB8AC3E}">
        <p14:creationId xmlns:p14="http://schemas.microsoft.com/office/powerpoint/2010/main" val="25535353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373AAF4-26C9-4140-9320-2A8301DCB6A4}"/>
              </a:ext>
            </a:extLst>
          </p:cNvPr>
          <p:cNvPicPr/>
          <p:nvPr userDrawn="1"/>
        </p:nvPicPr>
        <p:blipFill rotWithShape="1">
          <a:blip r:embed="rId2" cstate="email">
            <a:alphaModFix amt="42000"/>
            <a:lum bright="-20000" contras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8651"/>
          <a:stretch/>
        </p:blipFill>
        <p:spPr>
          <a:xfrm>
            <a:off x="0" y="6517927"/>
            <a:ext cx="12319000" cy="365125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83B89F36-FBF0-40F2-947F-645BA3961D24}"/>
              </a:ext>
            </a:extLst>
          </p:cNvPr>
          <p:cNvSpPr txBox="1">
            <a:spLocks/>
          </p:cNvSpPr>
          <p:nvPr userDrawn="1"/>
        </p:nvSpPr>
        <p:spPr>
          <a:xfrm>
            <a:off x="11639774" y="6271709"/>
            <a:ext cx="525592" cy="559658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3BCBE7-F952-4172-934D-B3618569B6A5}" type="slidenum">
              <a:rPr kumimoji="0" lang="fr-FR" sz="1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fr-FR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5020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991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465518-4553-4551-A7D4-379A2AC31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t="10143" b="10143"/>
          <a:stretch/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71957208-0CDB-4848-8AFC-5B2671C9F222}"/>
              </a:ext>
            </a:extLst>
          </p:cNvPr>
          <p:cNvSpPr txBox="1">
            <a:spLocks/>
          </p:cNvSpPr>
          <p:nvPr userDrawn="1"/>
        </p:nvSpPr>
        <p:spPr>
          <a:xfrm>
            <a:off x="2758889" y="2641976"/>
            <a:ext cx="7209688" cy="5727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r>
              <a:rPr lang="fr-FR"/>
              <a:t>MERCI. </a:t>
            </a:r>
          </a:p>
        </p:txBody>
      </p:sp>
    </p:spTree>
    <p:extLst>
      <p:ext uri="{BB962C8B-B14F-4D97-AF65-F5344CB8AC3E}">
        <p14:creationId xmlns:p14="http://schemas.microsoft.com/office/powerpoint/2010/main" val="1933129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isocèle 3">
            <a:extLst>
              <a:ext uri="{FF2B5EF4-FFF2-40B4-BE49-F238E27FC236}">
                <a16:creationId xmlns:a16="http://schemas.microsoft.com/office/drawing/2014/main" id="{8E49DE17-288B-4B0A-988E-BDAD3880C62F}"/>
              </a:ext>
            </a:extLst>
          </p:cNvPr>
          <p:cNvSpPr/>
          <p:nvPr userDrawn="1"/>
        </p:nvSpPr>
        <p:spPr>
          <a:xfrm rot="10800000" flipH="1" flipV="1">
            <a:off x="11419840" y="4969531"/>
            <a:ext cx="772160" cy="1889756"/>
          </a:xfrm>
          <a:prstGeom prst="triangle">
            <a:avLst>
              <a:gd name="adj" fmla="val 100000"/>
            </a:avLst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9CEC242-6A85-4330-BAC2-688C15E36ED8}"/>
              </a:ext>
            </a:extLst>
          </p:cNvPr>
          <p:cNvPicPr/>
          <p:nvPr userDrawn="1"/>
        </p:nvPicPr>
        <p:blipFill rotWithShape="1">
          <a:blip r:embed="rId15" cstate="email">
            <a:alphaModFix amt="42000"/>
            <a:lum bright="-20000" contras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8651"/>
          <a:stretch/>
        </p:blipFill>
        <p:spPr>
          <a:xfrm>
            <a:off x="0" y="6517927"/>
            <a:ext cx="1231900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3" r:id="rId1"/>
    <p:sldLayoutId id="2147484011" r:id="rId2"/>
    <p:sldLayoutId id="2147483936" r:id="rId3"/>
    <p:sldLayoutId id="2147483944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10" r:id="rId10"/>
    <p:sldLayoutId id="2147484012" r:id="rId11"/>
    <p:sldLayoutId id="2147484016" r:id="rId12"/>
    <p:sldLayoutId id="2147484018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6">
          <p15:clr>
            <a:srgbClr val="F26B43"/>
          </p15:clr>
        </p15:guide>
        <p15:guide id="2" orient="horz" pos="3748">
          <p15:clr>
            <a:srgbClr val="F26B43"/>
          </p15:clr>
        </p15:guide>
        <p15:guide id="3" orient="horz" pos="1638">
          <p15:clr>
            <a:srgbClr val="F26B43"/>
          </p15:clr>
        </p15:guide>
        <p15:guide id="4" orient="horz" pos="14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947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7" r:id="rId2"/>
    <p:sldLayoutId id="2147484015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86">
          <p15:clr>
            <a:srgbClr val="F26B43"/>
          </p15:clr>
        </p15:guide>
        <p15:guide id="2" orient="horz" pos="3748">
          <p15:clr>
            <a:srgbClr val="F26B43"/>
          </p15:clr>
        </p15:guide>
        <p15:guide id="3" orient="horz" pos="1638">
          <p15:clr>
            <a:srgbClr val="F26B43"/>
          </p15:clr>
        </p15:guide>
        <p15:guide id="4" orient="horz" pos="14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rancecompetences.fr/recherche/rncp/39582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ynov.mycertif.app/selection-connexion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5924C61C-A6A4-1CC4-6025-C9955C578F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28" b="7928"/>
          <a:stretch/>
        </p:blipFill>
        <p:spPr>
          <a:xfrm>
            <a:off x="0" y="0"/>
            <a:ext cx="12195332" cy="6858000"/>
          </a:xfrm>
          <a:prstGeom prst="rect">
            <a:avLst/>
          </a:prstGeom>
        </p:spPr>
      </p:pic>
      <p:sp>
        <p:nvSpPr>
          <p:cNvPr id="11" name="Triangle isocèle 10">
            <a:extLst>
              <a:ext uri="{FF2B5EF4-FFF2-40B4-BE49-F238E27FC236}">
                <a16:creationId xmlns:a16="http://schemas.microsoft.com/office/drawing/2014/main" id="{3324EBED-F6B2-B8B4-4586-7EB1736FB4F4}"/>
              </a:ext>
            </a:extLst>
          </p:cNvPr>
          <p:cNvSpPr/>
          <p:nvPr/>
        </p:nvSpPr>
        <p:spPr>
          <a:xfrm rot="10800000">
            <a:off x="-3" y="-2"/>
            <a:ext cx="2743201" cy="3429001"/>
          </a:xfrm>
          <a:prstGeom prst="triangle">
            <a:avLst>
              <a:gd name="adj" fmla="val 100000"/>
            </a:avLst>
          </a:prstGeom>
          <a:solidFill>
            <a:srgbClr val="00EAFF"/>
          </a:solidFill>
          <a:ln>
            <a:solidFill>
              <a:schemeClr val="tx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53D8F7-990C-131F-1C4F-78D19A107ACD}"/>
              </a:ext>
            </a:extLst>
          </p:cNvPr>
          <p:cNvSpPr/>
          <p:nvPr/>
        </p:nvSpPr>
        <p:spPr>
          <a:xfrm>
            <a:off x="2743198" y="5422052"/>
            <a:ext cx="9448802" cy="1097394"/>
          </a:xfrm>
          <a:prstGeom prst="rect">
            <a:avLst/>
          </a:prstGeom>
          <a:solidFill>
            <a:srgbClr val="00EA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fr-FR" sz="1800" dirty="0"/>
          </a:p>
          <a:p>
            <a:pPr algn="ctr"/>
            <a:r>
              <a:rPr lang="fr-FR" sz="2000" u="sng" dirty="0">
                <a:latin typeface="Montserrat" panose="00000500000000000000" pitchFamily="2" charset="0"/>
              </a:rPr>
              <a:t>Modalités des épreuves certificatives </a:t>
            </a:r>
            <a:r>
              <a:rPr lang="fr-FR" sz="2000" dirty="0">
                <a:latin typeface="Montserrat" panose="00000500000000000000" pitchFamily="2" charset="0"/>
              </a:rPr>
              <a:t>:</a:t>
            </a:r>
          </a:p>
          <a:p>
            <a:pPr algn="ctr"/>
            <a:r>
              <a:rPr lang="fr-FR" sz="2000" dirty="0">
                <a:ea typeface="+mn-lt"/>
                <a:cs typeface="+mn-lt"/>
              </a:rPr>
              <a:t>Expert en architecture des systèmes d’information</a:t>
            </a:r>
            <a:r>
              <a:rPr lang="fr-FR" sz="2000" dirty="0">
                <a:latin typeface="Calibri"/>
                <a:ea typeface="Calibri"/>
                <a:cs typeface="Calibri"/>
              </a:rPr>
              <a:t> </a:t>
            </a:r>
            <a:r>
              <a:rPr lang="fr-FR" sz="2000" dirty="0">
                <a:latin typeface="Montserrat"/>
              </a:rPr>
              <a:t>– RNCP 39582 – niv7</a:t>
            </a:r>
            <a:endParaRPr lang="fr-FR" dirty="0">
              <a:ea typeface="Calibri"/>
              <a:cs typeface="Calibri"/>
            </a:endParaRPr>
          </a:p>
          <a:p>
            <a:pPr algn="ctr"/>
            <a:endParaRPr lang="fr-FR" sz="18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50DE700-BA5D-EEA2-6ED1-F1CEDC8D0BEA}"/>
              </a:ext>
            </a:extLst>
          </p:cNvPr>
          <p:cNvSpPr txBox="1"/>
          <p:nvPr/>
        </p:nvSpPr>
        <p:spPr>
          <a:xfrm>
            <a:off x="9309480" y="6519446"/>
            <a:ext cx="2920992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fr-FR" sz="1600" b="1" i="1" dirty="0">
                <a:latin typeface="Source Sans Pro Light"/>
                <a:ea typeface="Source Sans Pro Light"/>
                <a:cs typeface="Source Sans Pro Light" panose="020F0302020204030204" pitchFamily="34" charset="0"/>
              </a:rPr>
              <a:t>Ludovic NAY – V 1.1 – Rentrée 2025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26105E52-97A6-53EB-981E-6D8D2DDC0C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082" y="218701"/>
            <a:ext cx="2919914" cy="114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3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C2DC6F9F-D386-DB94-B56F-59A72C50E3BB}"/>
              </a:ext>
            </a:extLst>
          </p:cNvPr>
          <p:cNvSpPr txBox="1">
            <a:spLocks/>
          </p:cNvSpPr>
          <p:nvPr/>
        </p:nvSpPr>
        <p:spPr>
          <a:xfrm>
            <a:off x="1410080" y="246991"/>
            <a:ext cx="9486520" cy="113428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 dirty="0"/>
              <a:t>Les programmes concernés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 dirty="0"/>
              <a:t>en 2025/26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6DCE9181-27CD-63F7-EF07-66D10BFEC29C}"/>
              </a:ext>
            </a:extLst>
          </p:cNvPr>
          <p:cNvSpPr/>
          <p:nvPr/>
        </p:nvSpPr>
        <p:spPr>
          <a:xfrm>
            <a:off x="1122680" y="1849406"/>
            <a:ext cx="8523826" cy="2960594"/>
          </a:xfrm>
          <a:custGeom>
            <a:avLst/>
            <a:gdLst/>
            <a:ahLst/>
            <a:cxnLst/>
            <a:rect l="l" t="t" r="r" b="b"/>
            <a:pathLst>
              <a:path w="10058400" h="3597910">
                <a:moveTo>
                  <a:pt x="0" y="3597655"/>
                </a:moveTo>
                <a:lnTo>
                  <a:pt x="10058146" y="3597655"/>
                </a:lnTo>
                <a:lnTo>
                  <a:pt x="10058146" y="0"/>
                </a:lnTo>
                <a:lnTo>
                  <a:pt x="0" y="0"/>
                </a:lnTo>
                <a:lnTo>
                  <a:pt x="0" y="3597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8573">
            <a:solidFill>
              <a:schemeClr val="bg1">
                <a:lumMod val="6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1">
            <a:extLst>
              <a:ext uri="{FF2B5EF4-FFF2-40B4-BE49-F238E27FC236}">
                <a16:creationId xmlns:a16="http://schemas.microsoft.com/office/drawing/2014/main" id="{4553ABB7-03AC-BD04-B92E-1174632C25A6}"/>
              </a:ext>
            </a:extLst>
          </p:cNvPr>
          <p:cNvSpPr txBox="1"/>
          <p:nvPr/>
        </p:nvSpPr>
        <p:spPr>
          <a:xfrm>
            <a:off x="1782379" y="2367581"/>
            <a:ext cx="8159467" cy="192424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fr-FR" sz="2000" i="1" dirty="0">
                <a:latin typeface="Montserrat"/>
              </a:rPr>
              <a:t>Le Mastère de la filière Informatique:</a:t>
            </a: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lang="fr-FR" sz="2000" i="1" dirty="0">
              <a:latin typeface="Montserrat" panose="00000500000000000000" pitchFamily="2" charset="0"/>
              <a:cs typeface="Century Gothic"/>
            </a:endParaRPr>
          </a:p>
          <a:p>
            <a:pPr marL="342900" indent="-342900">
              <a:spcBef>
                <a:spcPts val="105"/>
              </a:spcBef>
              <a:buFont typeface="Wingdings"/>
              <a:buChar char="Ø"/>
            </a:pPr>
            <a:r>
              <a:rPr lang="fr-FR" sz="2000" i="1" dirty="0">
                <a:latin typeface="Montserrat"/>
              </a:rPr>
              <a:t>M2 Expert en Cloud, Sécurité &amp; Infrastructure</a:t>
            </a:r>
          </a:p>
          <a:p>
            <a:pPr marL="342900" indent="-342900">
              <a:spcBef>
                <a:spcPts val="105"/>
              </a:spcBef>
              <a:buFont typeface="Wingdings"/>
              <a:buChar char="Ø"/>
            </a:pPr>
            <a:endParaRPr lang="fr-FR" sz="2000" i="1" dirty="0">
              <a:latin typeface="Montserrat"/>
            </a:endParaRPr>
          </a:p>
          <a:p>
            <a:pPr marL="342900" indent="-342900">
              <a:spcBef>
                <a:spcPts val="105"/>
              </a:spcBef>
              <a:buFont typeface="Wingdings"/>
              <a:buChar char="Ø"/>
            </a:pPr>
            <a:endParaRPr lang="fr-FR" sz="2000" i="1" dirty="0">
              <a:latin typeface="Montserrat" panose="00000500000000000000" pitchFamily="2" charset="0"/>
              <a:cs typeface="Century Gothic"/>
            </a:endParaRPr>
          </a:p>
          <a:p>
            <a:pPr>
              <a:spcBef>
                <a:spcPts val="105"/>
              </a:spcBef>
            </a:pPr>
            <a:endParaRPr lang="fr-FR" sz="2000" dirty="0">
              <a:latin typeface="Montserrat" panose="00000500000000000000" pitchFamily="2" charset="0"/>
              <a:cs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965776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038DC098-99AD-CDDF-3BF6-14B52DC015A4}"/>
              </a:ext>
            </a:extLst>
          </p:cNvPr>
          <p:cNvSpPr txBox="1">
            <a:spLocks/>
          </p:cNvSpPr>
          <p:nvPr/>
        </p:nvSpPr>
        <p:spPr>
          <a:xfrm>
            <a:off x="1418542" y="208955"/>
            <a:ext cx="9871075" cy="998350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/>
              <a:t>Qu’est-ce qu’une certification professionnelle ou titre RNCP ?</a:t>
            </a:r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4F47CD6B-5426-B828-A9EA-2AAD214C77E7}"/>
              </a:ext>
            </a:extLst>
          </p:cNvPr>
          <p:cNvSpPr/>
          <p:nvPr/>
        </p:nvSpPr>
        <p:spPr>
          <a:xfrm>
            <a:off x="1123924" y="1465296"/>
            <a:ext cx="9664700" cy="3967174"/>
          </a:xfrm>
          <a:custGeom>
            <a:avLst/>
            <a:gdLst/>
            <a:ahLst/>
            <a:cxnLst/>
            <a:rect l="l" t="t" r="r" b="b"/>
            <a:pathLst>
              <a:path w="9664700" h="3937000">
                <a:moveTo>
                  <a:pt x="0" y="3936746"/>
                </a:moveTo>
                <a:lnTo>
                  <a:pt x="9664700" y="3936746"/>
                </a:lnTo>
                <a:lnTo>
                  <a:pt x="9664700" y="0"/>
                </a:lnTo>
                <a:lnTo>
                  <a:pt x="0" y="0"/>
                </a:lnTo>
                <a:lnTo>
                  <a:pt x="0" y="3936746"/>
                </a:lnTo>
                <a:close/>
              </a:path>
            </a:pathLst>
          </a:custGeom>
          <a:ln w="9525">
            <a:solidFill>
              <a:schemeClr val="bg1">
                <a:lumMod val="65000"/>
              </a:schemeClr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3E74638-3BE9-4849-8BAB-B2D8D524D24D}"/>
              </a:ext>
            </a:extLst>
          </p:cNvPr>
          <p:cNvSpPr txBox="1"/>
          <p:nvPr/>
        </p:nvSpPr>
        <p:spPr>
          <a:xfrm>
            <a:off x="1334999" y="1551563"/>
            <a:ext cx="924255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1400" dirty="0">
                <a:latin typeface="Montserrat" panose="00000500000000000000" pitchFamily="2" charset="0"/>
              </a:rPr>
              <a:t>Une certification enregistrée au RNCP est la reconnaissance officielle par l’État français d’un titre (ou diplôme) à finalité professionnelle. </a:t>
            </a:r>
          </a:p>
          <a:p>
            <a:pPr>
              <a:buNone/>
            </a:pPr>
            <a:endParaRPr lang="fr-FR" sz="1400" dirty="0"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1400" dirty="0">
                <a:latin typeface="Montserrat" panose="00000500000000000000" pitchFamily="2" charset="0"/>
              </a:rPr>
              <a:t>Elle atteste des compétences, des connaissances et des aptitudes nécessaires pour exercer un métier ou une fonction clairement identifiée sur le marché du travail</a:t>
            </a:r>
          </a:p>
          <a:p>
            <a:endParaRPr lang="fr-FR" sz="1400" dirty="0">
              <a:latin typeface="Montserrat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sz="1400" dirty="0">
                <a:latin typeface="Montserrat" panose="00000500000000000000" pitchFamily="2" charset="0"/>
              </a:rPr>
              <a:t>Elle est inscrite dans un référentiel national géré par </a:t>
            </a:r>
            <a:r>
              <a:rPr lang="fr-FR" sz="1400" b="1" dirty="0">
                <a:latin typeface="Montserrat" panose="00000500000000000000" pitchFamily="2" charset="0"/>
              </a:rPr>
              <a:t>France Compétences </a:t>
            </a:r>
            <a:r>
              <a:rPr lang="fr-FR" sz="1400" dirty="0">
                <a:latin typeface="Montserrat" panose="00000500000000000000" pitchFamily="2" charset="0"/>
              </a:rPr>
              <a:t>et garantissant :</a:t>
            </a:r>
          </a:p>
          <a:p>
            <a:endParaRPr lang="fr-FR" sz="1400" dirty="0">
              <a:latin typeface="Montserrat" panose="00000500000000000000" pitchFamily="2" charset="0"/>
            </a:endParaRPr>
          </a:p>
          <a:p>
            <a:pPr marL="571500" lvl="4" indent="-285750">
              <a:buFont typeface="Wingdings" panose="05000000000000000000" pitchFamily="2" charset="2"/>
              <a:buChar char="ü"/>
            </a:pPr>
            <a:r>
              <a:rPr lang="fr-FR" sz="1400" dirty="0">
                <a:latin typeface="Montserrat" panose="00000500000000000000" pitchFamily="2" charset="0"/>
              </a:rPr>
              <a:t>la </a:t>
            </a:r>
            <a:r>
              <a:rPr lang="fr-FR" sz="1400" b="1" dirty="0">
                <a:latin typeface="Montserrat" panose="00000500000000000000" pitchFamily="2" charset="0"/>
              </a:rPr>
              <a:t>valeur professionnelle</a:t>
            </a:r>
            <a:r>
              <a:rPr lang="fr-FR" sz="1400" dirty="0">
                <a:latin typeface="Montserrat" panose="00000500000000000000" pitchFamily="2" charset="0"/>
              </a:rPr>
              <a:t> du titre,</a:t>
            </a:r>
          </a:p>
          <a:p>
            <a:pPr marL="285750" lvl="3" indent="69850">
              <a:buFont typeface="Wingdings" panose="05000000000000000000" pitchFamily="2" charset="2"/>
              <a:buChar char="ü"/>
            </a:pPr>
            <a:r>
              <a:rPr lang="fr-FR" sz="1400" dirty="0">
                <a:latin typeface="Montserrat" panose="00000500000000000000" pitchFamily="2" charset="0"/>
              </a:rPr>
              <a:t>   sa </a:t>
            </a:r>
            <a:r>
              <a:rPr lang="fr-FR" sz="1400" b="1" dirty="0">
                <a:latin typeface="Montserrat" panose="00000500000000000000" pitchFamily="2" charset="0"/>
              </a:rPr>
              <a:t>reconnaissance par les employeurs</a:t>
            </a:r>
            <a:r>
              <a:rPr lang="fr-FR" sz="1400" dirty="0">
                <a:latin typeface="Montserrat" panose="00000500000000000000" pitchFamily="2" charset="0"/>
              </a:rPr>
              <a:t> dans tous les secteurs,</a:t>
            </a:r>
          </a:p>
          <a:p>
            <a:pPr marL="285750" lvl="1" indent="-22225">
              <a:buFont typeface="Wingdings" panose="05000000000000000000" pitchFamily="2" charset="2"/>
              <a:buChar char="ü"/>
            </a:pPr>
            <a:r>
              <a:rPr lang="fr-FR" sz="1400" dirty="0">
                <a:latin typeface="Montserrat" panose="00000500000000000000" pitchFamily="2" charset="0"/>
              </a:rPr>
              <a:t>   son </a:t>
            </a:r>
            <a:r>
              <a:rPr lang="fr-FR" sz="1400" b="1" dirty="0">
                <a:latin typeface="Montserrat" panose="00000500000000000000" pitchFamily="2" charset="0"/>
              </a:rPr>
              <a:t>niveau de qualification</a:t>
            </a:r>
            <a:r>
              <a:rPr lang="fr-FR" sz="1400" dirty="0">
                <a:latin typeface="Montserrat" panose="00000500000000000000" pitchFamily="2" charset="0"/>
              </a:rPr>
              <a:t>, selon le cadre national (niveau 6 pour un bac+3, niveau 7 pour un bac+5, etc.).</a:t>
            </a:r>
          </a:p>
          <a:p>
            <a:endParaRPr lang="fr-FR" sz="1400" dirty="0">
              <a:latin typeface="Montserrat" panose="00000500000000000000" pitchFamily="2" charset="0"/>
            </a:endParaRPr>
          </a:p>
          <a:p>
            <a:r>
              <a:rPr lang="fr-FR" sz="1400" dirty="0"/>
              <a:t>💡</a:t>
            </a:r>
            <a:r>
              <a:rPr lang="fr-FR" sz="1400" dirty="0">
                <a:latin typeface="Montserrat" panose="00000500000000000000" pitchFamily="2" charset="0"/>
              </a:rPr>
              <a:t> </a:t>
            </a:r>
            <a:r>
              <a:rPr lang="fr-FR" sz="1400" u="sng" dirty="0">
                <a:latin typeface="Montserrat" panose="00000500000000000000" pitchFamily="2" charset="0"/>
              </a:rPr>
              <a:t>En résumé </a:t>
            </a:r>
            <a:r>
              <a:rPr lang="fr-FR" sz="1400" dirty="0">
                <a:latin typeface="Montserrat" panose="00000500000000000000" pitchFamily="2" charset="0"/>
              </a:rPr>
              <a:t>:</a:t>
            </a:r>
          </a:p>
          <a:p>
            <a:br>
              <a:rPr lang="fr-FR" sz="1400" dirty="0">
                <a:latin typeface="Montserrat" panose="00000500000000000000" pitchFamily="2" charset="0"/>
              </a:rPr>
            </a:br>
            <a:r>
              <a:rPr lang="fr-FR" sz="1400" dirty="0">
                <a:latin typeface="Montserrat" panose="00000500000000000000" pitchFamily="2" charset="0"/>
              </a:rPr>
              <a:t>Obtenir un titre RNCP, c’est valider un parcours qui a du sens pour le marché de l’emploi et qui est officiellement reconnu pour construire sa carrière.</a:t>
            </a: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DDEEBCC3-3F14-75D5-4441-AD5D7CD14855}"/>
              </a:ext>
            </a:extLst>
          </p:cNvPr>
          <p:cNvSpPr/>
          <p:nvPr/>
        </p:nvSpPr>
        <p:spPr>
          <a:xfrm>
            <a:off x="703510" y="5762454"/>
            <a:ext cx="496799" cy="542925"/>
          </a:xfrm>
          <a:prstGeom prst="rightArrow">
            <a:avLst/>
          </a:prstGeom>
          <a:solidFill>
            <a:srgbClr val="00EAFF"/>
          </a:solidFill>
          <a:ln>
            <a:solidFill>
              <a:srgbClr val="00E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16714BE-C7C5-40F1-3AC8-36DD5BD25B32}"/>
              </a:ext>
            </a:extLst>
          </p:cNvPr>
          <p:cNvSpPr txBox="1"/>
          <p:nvPr/>
        </p:nvSpPr>
        <p:spPr>
          <a:xfrm>
            <a:off x="1255986" y="5761530"/>
            <a:ext cx="924603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dirty="0">
                <a:hlinkClick r:id="rId2"/>
              </a:rPr>
              <a:t>Fiche France Compétences du titre </a:t>
            </a:r>
            <a:r>
              <a:rPr lang="fr-FR" dirty="0">
                <a:ea typeface="+mn-lt"/>
                <a:cs typeface="+mn-lt"/>
                <a:hlinkClick r:id="rId2"/>
              </a:rPr>
              <a:t>Expert en architecture des systèmes d’information </a:t>
            </a:r>
            <a:r>
              <a:rPr lang="fr-FR" dirty="0">
                <a:hlinkClick r:id="rId2"/>
              </a:rPr>
              <a:t>RNCP39582 (Certificateur : YNOV)</a:t>
            </a:r>
            <a:endParaRPr lang="fr-FR" dirty="0">
              <a:ea typeface="Calibri"/>
              <a:cs typeface="Calibri"/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399328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10">
            <a:extLst>
              <a:ext uri="{FF2B5EF4-FFF2-40B4-BE49-F238E27FC236}">
                <a16:creationId xmlns:a16="http://schemas.microsoft.com/office/drawing/2014/main" id="{F072BA54-3927-E2B1-2987-DCE4EE50D0EC}"/>
              </a:ext>
            </a:extLst>
          </p:cNvPr>
          <p:cNvSpPr txBox="1"/>
          <p:nvPr/>
        </p:nvSpPr>
        <p:spPr>
          <a:xfrm>
            <a:off x="939800" y="1140078"/>
            <a:ext cx="10593294" cy="57964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fr-FR" dirty="0">
                <a:latin typeface="Century Gothic"/>
                <a:cs typeface="Century Gothic"/>
              </a:rPr>
              <a:t>La</a:t>
            </a:r>
            <a:r>
              <a:rPr lang="fr-FR" spc="-25" dirty="0">
                <a:latin typeface="Century Gothic"/>
                <a:cs typeface="Century Gothic"/>
              </a:rPr>
              <a:t> </a:t>
            </a:r>
            <a:r>
              <a:rPr lang="fr-FR" dirty="0">
                <a:latin typeface="Century Gothic"/>
                <a:cs typeface="Century Gothic"/>
              </a:rPr>
              <a:t>certification</a:t>
            </a:r>
            <a:r>
              <a:rPr lang="fr-FR" spc="-70" dirty="0">
                <a:latin typeface="Century Gothic"/>
                <a:cs typeface="Century Gothic"/>
              </a:rPr>
              <a:t> </a:t>
            </a:r>
            <a:r>
              <a:rPr lang="fr-FR" dirty="0">
                <a:latin typeface="Century Gothic"/>
                <a:cs typeface="Century Gothic"/>
              </a:rPr>
              <a:t>visée</a:t>
            </a:r>
            <a:r>
              <a:rPr lang="fr-FR" spc="-40" dirty="0">
                <a:latin typeface="Century Gothic"/>
                <a:cs typeface="Century Gothic"/>
              </a:rPr>
              <a:t> </a:t>
            </a:r>
            <a:r>
              <a:rPr lang="fr-FR" dirty="0">
                <a:latin typeface="Century Gothic"/>
                <a:cs typeface="Century Gothic"/>
              </a:rPr>
              <a:t>Exp</a:t>
            </a:r>
            <a:r>
              <a:rPr lang="fr-FR" dirty="0">
                <a:latin typeface="Century Gothic"/>
              </a:rPr>
              <a:t>ert en architecture des systèmes d’information –</a:t>
            </a:r>
            <a:r>
              <a:rPr lang="fr-FR" dirty="0">
                <a:latin typeface="Century Gothic"/>
                <a:cs typeface="Century Gothic"/>
              </a:rPr>
              <a:t> RNCP 39582 (YNOV),</a:t>
            </a:r>
            <a:r>
              <a:rPr lang="fr-FR" spc="-5" dirty="0">
                <a:latin typeface="Century Gothic"/>
                <a:cs typeface="Century Gothic"/>
              </a:rPr>
              <a:t> </a:t>
            </a:r>
            <a:r>
              <a:rPr lang="fr-FR" dirty="0">
                <a:latin typeface="Century Gothic"/>
                <a:cs typeface="Century Gothic"/>
              </a:rPr>
              <a:t>s'obtient</a:t>
            </a:r>
            <a:r>
              <a:rPr lang="fr-FR" spc="-25" dirty="0">
                <a:latin typeface="Century Gothic"/>
                <a:cs typeface="Century Gothic"/>
              </a:rPr>
              <a:t> </a:t>
            </a:r>
            <a:r>
              <a:rPr lang="fr-FR" dirty="0">
                <a:latin typeface="Century Gothic"/>
                <a:cs typeface="Century Gothic"/>
              </a:rPr>
              <a:t>par</a:t>
            </a:r>
            <a:r>
              <a:rPr lang="fr-FR" spc="-35" dirty="0">
                <a:latin typeface="Century Gothic"/>
                <a:cs typeface="Century Gothic"/>
              </a:rPr>
              <a:t> </a:t>
            </a:r>
            <a:r>
              <a:rPr lang="fr-FR" dirty="0">
                <a:latin typeface="Century Gothic"/>
                <a:cs typeface="Century Gothic"/>
              </a:rPr>
              <a:t>la</a:t>
            </a:r>
            <a:r>
              <a:rPr lang="fr-FR" spc="-50" dirty="0">
                <a:latin typeface="Century Gothic"/>
                <a:cs typeface="Century Gothic"/>
              </a:rPr>
              <a:t> </a:t>
            </a:r>
            <a:r>
              <a:rPr lang="fr-FR" dirty="0">
                <a:latin typeface="Century Gothic"/>
                <a:cs typeface="Century Gothic"/>
              </a:rPr>
              <a:t>validation</a:t>
            </a:r>
            <a:r>
              <a:rPr lang="fr-FR" spc="-50" dirty="0">
                <a:latin typeface="Century Gothic"/>
                <a:cs typeface="Century Gothic"/>
              </a:rPr>
              <a:t> </a:t>
            </a:r>
            <a:r>
              <a:rPr lang="fr-FR" spc="-25" dirty="0">
                <a:latin typeface="Century Gothic"/>
                <a:cs typeface="Century Gothic"/>
              </a:rPr>
              <a:t>de </a:t>
            </a:r>
            <a:r>
              <a:rPr lang="fr-FR" b="1" u="sng" spc="-25" dirty="0">
                <a:latin typeface="Century Gothic"/>
                <a:cs typeface="Century Gothic"/>
              </a:rPr>
              <a:t>4 </a:t>
            </a:r>
            <a:r>
              <a:rPr lang="fr-FR" b="1" u="sng" dirty="0">
                <a:latin typeface="Century Gothic"/>
                <a:cs typeface="Century Gothic"/>
              </a:rPr>
              <a:t>blocs</a:t>
            </a:r>
            <a:r>
              <a:rPr lang="fr-FR" b="1" u="sng" spc="-15" dirty="0">
                <a:latin typeface="Century Gothic"/>
                <a:cs typeface="Century Gothic"/>
              </a:rPr>
              <a:t> </a:t>
            </a:r>
            <a:r>
              <a:rPr lang="fr-FR" b="1" u="sng" dirty="0">
                <a:latin typeface="Century Gothic"/>
                <a:cs typeface="Century Gothic"/>
              </a:rPr>
              <a:t>de</a:t>
            </a:r>
            <a:r>
              <a:rPr lang="fr-FR" b="1" u="sng" spc="-10" dirty="0">
                <a:latin typeface="Century Gothic"/>
                <a:cs typeface="Century Gothic"/>
              </a:rPr>
              <a:t> compétences</a:t>
            </a:r>
            <a:r>
              <a:rPr lang="fr-FR" spc="-10" dirty="0">
                <a:latin typeface="Century Gothic"/>
                <a:cs typeface="Century Gothic"/>
              </a:rPr>
              <a:t>:</a:t>
            </a:r>
            <a:endParaRPr lang="fr-FR" dirty="0">
              <a:latin typeface="Century Gothic"/>
              <a:cs typeface="Century Gothic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F187F9C1-58D4-F992-0C59-8D3C80FD9C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1175" y="339639"/>
            <a:ext cx="85528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130" algn="l"/>
                <a:tab pos="3221990" algn="l"/>
              </a:tabLst>
            </a:pPr>
            <a:r>
              <a:rPr lang="fr-FR" spc="-20">
                <a:latin typeface="Montserrat" panose="00000500000000000000" pitchFamily="2" charset="0"/>
              </a:rPr>
              <a:t>Les blocs de compétences du titre</a:t>
            </a:r>
            <a:endParaRPr spc="-20">
              <a:latin typeface="Montserrat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B5EB8-7C4A-8C52-B39A-A8B5AC74FA92}"/>
              </a:ext>
            </a:extLst>
          </p:cNvPr>
          <p:cNvSpPr/>
          <p:nvPr/>
        </p:nvSpPr>
        <p:spPr>
          <a:xfrm>
            <a:off x="597903" y="2729989"/>
            <a:ext cx="5329603" cy="638304"/>
          </a:xfrm>
          <a:prstGeom prst="rect">
            <a:avLst/>
          </a:prstGeom>
          <a:solidFill>
            <a:srgbClr val="00EAFF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tx1"/>
                </a:solidFill>
              </a:rPr>
              <a:t>Bloc 1 : </a:t>
            </a:r>
            <a:r>
              <a:rPr lang="fr-FR" sz="1400">
                <a:solidFill>
                  <a:schemeClr val="tx1"/>
                </a:solidFill>
                <a:ea typeface="+mn-lt"/>
                <a:cs typeface="+mn-lt"/>
              </a:rPr>
              <a:t>Élaborer la stratégie du système d’information </a:t>
            </a:r>
            <a:endParaRPr lang="fr-FR" sz="1400">
              <a:solidFill>
                <a:schemeClr val="tx1"/>
              </a:solidFill>
              <a:latin typeface="Aptos"/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B9835F-8F45-7AFE-8C44-96FCB0839CD1}"/>
              </a:ext>
            </a:extLst>
          </p:cNvPr>
          <p:cNvSpPr/>
          <p:nvPr/>
        </p:nvSpPr>
        <p:spPr>
          <a:xfrm>
            <a:off x="587392" y="3435896"/>
            <a:ext cx="5332234" cy="638304"/>
          </a:xfrm>
          <a:prstGeom prst="rect">
            <a:avLst/>
          </a:prstGeom>
          <a:solidFill>
            <a:srgbClr val="00EAFF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tx1"/>
                </a:solidFill>
              </a:rPr>
              <a:t>Bloc 2 : </a:t>
            </a:r>
            <a:r>
              <a:rPr lang="fr-FR" sz="1400">
                <a:solidFill>
                  <a:schemeClr val="tx1"/>
                </a:solidFill>
                <a:ea typeface="+mn-lt"/>
                <a:cs typeface="+mn-lt"/>
              </a:rPr>
              <a:t>Gérer un projet informatique</a:t>
            </a:r>
            <a:endParaRPr lang="fr-FR" sz="1400">
              <a:solidFill>
                <a:schemeClr val="tx1"/>
              </a:solidFill>
              <a:latin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BA89F8-1015-5AD6-47A2-733E9027B378}"/>
              </a:ext>
            </a:extLst>
          </p:cNvPr>
          <p:cNvSpPr/>
          <p:nvPr/>
        </p:nvSpPr>
        <p:spPr>
          <a:xfrm>
            <a:off x="590022" y="4147111"/>
            <a:ext cx="5340810" cy="638304"/>
          </a:xfrm>
          <a:prstGeom prst="rect">
            <a:avLst/>
          </a:prstGeom>
          <a:solidFill>
            <a:srgbClr val="00EAFF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tx1"/>
                </a:solidFill>
              </a:rPr>
              <a:t>Bloc 3 : </a:t>
            </a:r>
            <a:r>
              <a:rPr lang="fr-FR" sz="1400">
                <a:solidFill>
                  <a:schemeClr val="tx1"/>
                </a:solidFill>
                <a:ea typeface="+mn-lt"/>
                <a:cs typeface="+mn-lt"/>
              </a:rPr>
              <a:t>Maintenir en condition opérationnelle le SI </a:t>
            </a:r>
            <a:endParaRPr lang="fr-FR" sz="1400">
              <a:solidFill>
                <a:schemeClr val="tx1"/>
              </a:solidFill>
              <a:latin typeface="Apto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B3FE4F-E6D5-8703-CCBD-208173D6E659}"/>
              </a:ext>
            </a:extLst>
          </p:cNvPr>
          <p:cNvSpPr/>
          <p:nvPr/>
        </p:nvSpPr>
        <p:spPr>
          <a:xfrm>
            <a:off x="6369628" y="2729989"/>
            <a:ext cx="5332234" cy="63830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prstDash val="dashDot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Bloc 4 - Spé </a:t>
            </a:r>
            <a:r>
              <a:rPr lang="fr-FR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Devops</a:t>
            </a: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: </a:t>
            </a:r>
            <a:r>
              <a:rPr lang="fr-FR" sz="14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Monitorer et automatiser le déploiement d’applications</a:t>
            </a:r>
            <a:endParaRPr lang="fr-FR" dirty="0">
              <a:solidFill>
                <a:schemeClr val="tx1">
                  <a:lumMod val="65000"/>
                  <a:lumOff val="3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0ED414-CE55-8015-1EEE-2475C0374AC4}"/>
              </a:ext>
            </a:extLst>
          </p:cNvPr>
          <p:cNvSpPr/>
          <p:nvPr/>
        </p:nvSpPr>
        <p:spPr>
          <a:xfrm>
            <a:off x="597903" y="2000845"/>
            <a:ext cx="5329603" cy="638304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>
                <a:solidFill>
                  <a:schemeClr val="bg1"/>
                </a:solidFill>
              </a:rPr>
              <a:t>3 BLOCS DE COMPETENCES </a:t>
            </a:r>
            <a:endParaRPr lang="fr-FR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948ED77-2242-5BA7-B199-83D778CB0C93}"/>
              </a:ext>
            </a:extLst>
          </p:cNvPr>
          <p:cNvSpPr/>
          <p:nvPr/>
        </p:nvSpPr>
        <p:spPr>
          <a:xfrm>
            <a:off x="6369628" y="3435896"/>
            <a:ext cx="5332234" cy="638304"/>
          </a:xfrm>
          <a:prstGeom prst="rect">
            <a:avLst/>
          </a:prstGeom>
          <a:solidFill>
            <a:srgbClr val="00EAFF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 dirty="0">
                <a:solidFill>
                  <a:schemeClr val="tx1"/>
                </a:solidFill>
              </a:rPr>
              <a:t>Bloc 5 (</a:t>
            </a:r>
            <a:r>
              <a:rPr lang="fr-FR" sz="1400" dirty="0">
                <a:solidFill>
                  <a:schemeClr val="tx1">
                    <a:lumMod val="76000"/>
                    <a:lumOff val="24000"/>
                  </a:schemeClr>
                </a:solidFill>
              </a:rPr>
              <a:t>Spé Infra)</a:t>
            </a:r>
            <a:r>
              <a:rPr lang="fr-FR" sz="1400" dirty="0">
                <a:solidFill>
                  <a:schemeClr val="tx1"/>
                </a:solidFill>
              </a:rPr>
              <a:t>: </a:t>
            </a:r>
            <a:r>
              <a:rPr lang="fr-FR" sz="1400" dirty="0">
                <a:solidFill>
                  <a:schemeClr val="tx1"/>
                </a:solidFill>
                <a:ea typeface="+mn-lt"/>
                <a:cs typeface="+mn-lt"/>
              </a:rPr>
              <a:t>Concevoir et mettre en œuvre l’architecture d’un SI </a:t>
            </a:r>
            <a:endParaRPr lang="fr-FR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4B699-816E-328C-E168-5ED1B0DCBEB9}"/>
              </a:ext>
            </a:extLst>
          </p:cNvPr>
          <p:cNvSpPr/>
          <p:nvPr/>
        </p:nvSpPr>
        <p:spPr>
          <a:xfrm>
            <a:off x="6368932" y="2000845"/>
            <a:ext cx="5329603" cy="638304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1 BLOC DE SPECIALITE</a:t>
            </a:r>
            <a:endParaRPr lang="fr-FR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390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FA3FD7-55A5-52DB-8B46-C452F032BC6D}"/>
              </a:ext>
            </a:extLst>
          </p:cNvPr>
          <p:cNvSpPr/>
          <p:nvPr/>
        </p:nvSpPr>
        <p:spPr>
          <a:xfrm>
            <a:off x="1036131" y="2588847"/>
            <a:ext cx="4825338" cy="638304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bg1"/>
                </a:solidFill>
              </a:rPr>
              <a:t>Bloc 1 : </a:t>
            </a:r>
            <a:r>
              <a:rPr lang="fr-FR" sz="1400">
                <a:solidFill>
                  <a:schemeClr val="bg1"/>
                </a:solidFill>
                <a:ea typeface="+mn-lt"/>
                <a:cs typeface="+mn-lt"/>
              </a:rPr>
              <a:t>Élaborer la stratégie du système d’information 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752F4-E8F2-02B6-5BC7-C56C8FB45B3F}"/>
              </a:ext>
            </a:extLst>
          </p:cNvPr>
          <p:cNvSpPr/>
          <p:nvPr/>
        </p:nvSpPr>
        <p:spPr>
          <a:xfrm>
            <a:off x="1025620" y="3305897"/>
            <a:ext cx="4827969" cy="638304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rgbClr val="FFFFFF"/>
                </a:solidFill>
              </a:rPr>
              <a:t>Bloc 2 : </a:t>
            </a:r>
            <a:r>
              <a:rPr lang="fr-FR" sz="1400">
                <a:solidFill>
                  <a:srgbClr val="FFFFFF"/>
                </a:solidFill>
                <a:ea typeface="+mn-lt"/>
                <a:cs typeface="+mn-lt"/>
              </a:rPr>
              <a:t>Gérer un projet informatique</a:t>
            </a:r>
            <a:endParaRPr lang="fr-FR" sz="14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1A1D01-B65F-71C4-10AF-020D06EFF328}"/>
              </a:ext>
            </a:extLst>
          </p:cNvPr>
          <p:cNvSpPr/>
          <p:nvPr/>
        </p:nvSpPr>
        <p:spPr>
          <a:xfrm>
            <a:off x="1028250" y="4022948"/>
            <a:ext cx="4825340" cy="638304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rgbClr val="FFFFFF"/>
                </a:solidFill>
              </a:rPr>
              <a:t>Bloc 3 :</a:t>
            </a:r>
            <a:r>
              <a:rPr lang="fr-FR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fr-FR" sz="1400">
                <a:solidFill>
                  <a:srgbClr val="FFFFFF"/>
                </a:solidFill>
                <a:ea typeface="+mn-lt"/>
                <a:cs typeface="+mn-lt"/>
              </a:rPr>
              <a:t>Maintenir en condition opérationnelle le SI </a:t>
            </a:r>
            <a:endParaRPr lang="fr-FR" sz="1400">
              <a:solidFill>
                <a:srgbClr val="FFFFFF"/>
              </a:solidFill>
              <a:latin typeface="Apto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3DBE91-1D53-0C32-5ECB-7CDEC0E41F94}"/>
              </a:ext>
            </a:extLst>
          </p:cNvPr>
          <p:cNvSpPr/>
          <p:nvPr/>
        </p:nvSpPr>
        <p:spPr>
          <a:xfrm>
            <a:off x="1025621" y="4751922"/>
            <a:ext cx="4827969" cy="638304"/>
          </a:xfrm>
          <a:prstGeom prst="rect">
            <a:avLst/>
          </a:prstGeom>
          <a:solidFill>
            <a:schemeClr val="tx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bg1"/>
                </a:solidFill>
              </a:rPr>
              <a:t>Bloc 5 : </a:t>
            </a:r>
            <a:r>
              <a:rPr lang="fr-FR" sz="1400">
                <a:solidFill>
                  <a:schemeClr val="bg1"/>
                </a:solidFill>
                <a:ea typeface="+mn-lt"/>
                <a:cs typeface="+mn-lt"/>
              </a:rPr>
              <a:t>Concevoir et mettre en œuvre l’architecture d’un SI </a:t>
            </a:r>
            <a:endParaRPr lang="fr-FR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FDDCB39-B9F7-E8F2-3EF3-0EBB72AB12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7400" y="372290"/>
            <a:ext cx="85528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130" algn="l"/>
                <a:tab pos="3221990" algn="l"/>
              </a:tabLst>
            </a:pPr>
            <a:r>
              <a:rPr lang="fr-FR" spc="-20">
                <a:latin typeface="Montserrat" panose="00000500000000000000" pitchFamily="2" charset="0"/>
              </a:rPr>
              <a:t>Modalités des épreuves certificatives</a:t>
            </a:r>
            <a:endParaRPr spc="-20">
              <a:latin typeface="Montserrat" panose="00000500000000000000" pitchFamily="2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D9B8289-4821-912F-D74A-897F7D968115}"/>
              </a:ext>
            </a:extLst>
          </p:cNvPr>
          <p:cNvSpPr txBox="1"/>
          <p:nvPr/>
        </p:nvSpPr>
        <p:spPr>
          <a:xfrm>
            <a:off x="1642801" y="1475816"/>
            <a:ext cx="9110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u="sng">
                <a:solidFill>
                  <a:srgbClr val="FF0000"/>
                </a:solidFill>
                <a:latin typeface="Montserrat" panose="00000500000000000000" pitchFamily="2" charset="0"/>
              </a:rPr>
              <a:t>Le détail des livrables attendus est disponible dans le règlement spécial de certification (Toolbox apprenant)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6568B9-B6C0-B1F1-E50A-2A0D8F3C5E02}"/>
              </a:ext>
            </a:extLst>
          </p:cNvPr>
          <p:cNvSpPr/>
          <p:nvPr/>
        </p:nvSpPr>
        <p:spPr>
          <a:xfrm>
            <a:off x="6179479" y="2593430"/>
            <a:ext cx="5051542" cy="638304"/>
          </a:xfrm>
          <a:prstGeom prst="rect">
            <a:avLst/>
          </a:prstGeom>
          <a:solidFill>
            <a:schemeClr val="bg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tx1"/>
                </a:solidFill>
                <a:ea typeface="+mn-lt"/>
                <a:cs typeface="+mn-lt"/>
              </a:rPr>
              <a:t>RENDU ECRIT (Dossier de 25 pages maximum, hors annexes et pages de garde) - Individuel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5D170C-86EA-46F9-11A5-ED7B372EEE49}"/>
              </a:ext>
            </a:extLst>
          </p:cNvPr>
          <p:cNvSpPr/>
          <p:nvPr/>
        </p:nvSpPr>
        <p:spPr>
          <a:xfrm>
            <a:off x="6179479" y="3310480"/>
            <a:ext cx="5051542" cy="638304"/>
          </a:xfrm>
          <a:prstGeom prst="rect">
            <a:avLst/>
          </a:prstGeom>
          <a:solidFill>
            <a:schemeClr val="bg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tx1"/>
                </a:solidFill>
                <a:ea typeface="Calibri"/>
                <a:cs typeface="Calibri"/>
              </a:rPr>
              <a:t>RENDU ECRIT (Dossier de 20 pages maximum, hors annexes et pages de garde) - Individuel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857B3A-5985-0D58-7A68-015BC61C3A02}"/>
              </a:ext>
            </a:extLst>
          </p:cNvPr>
          <p:cNvSpPr/>
          <p:nvPr/>
        </p:nvSpPr>
        <p:spPr>
          <a:xfrm>
            <a:off x="6179479" y="4027531"/>
            <a:ext cx="5051542" cy="638304"/>
          </a:xfrm>
          <a:prstGeom prst="rect">
            <a:avLst/>
          </a:prstGeom>
          <a:solidFill>
            <a:schemeClr val="bg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tx1"/>
                </a:solidFill>
                <a:ea typeface="+mn-lt"/>
                <a:cs typeface="+mn-lt"/>
              </a:rPr>
              <a:t>RENDU ECRIT (Dossier de 25 pages maximum, hors annexes et pages de garde) - Individuel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E78103-99A4-DAF3-552B-8AE2F0EBA370}"/>
              </a:ext>
            </a:extLst>
          </p:cNvPr>
          <p:cNvSpPr/>
          <p:nvPr/>
        </p:nvSpPr>
        <p:spPr>
          <a:xfrm>
            <a:off x="6179479" y="4756505"/>
            <a:ext cx="5051542" cy="638304"/>
          </a:xfrm>
          <a:prstGeom prst="rect">
            <a:avLst/>
          </a:prstGeom>
          <a:solidFill>
            <a:schemeClr val="bg2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fr-FR" sz="1400">
                <a:solidFill>
                  <a:schemeClr val="tx1"/>
                </a:solidFill>
                <a:ea typeface="+mn-lt"/>
                <a:cs typeface="+mn-lt"/>
              </a:rPr>
              <a:t>ORAL 45' (30' Prez + 15' d'échange avec Jury) - Individuel</a:t>
            </a:r>
            <a:endParaRPr lang="fr-FR"/>
          </a:p>
        </p:txBody>
      </p:sp>
      <p:sp>
        <p:nvSpPr>
          <p:cNvPr id="29" name="Flèche : pentagone 28">
            <a:extLst>
              <a:ext uri="{FF2B5EF4-FFF2-40B4-BE49-F238E27FC236}">
                <a16:creationId xmlns:a16="http://schemas.microsoft.com/office/drawing/2014/main" id="{D5F118E2-7A41-2A6C-0769-5D24359F373D}"/>
              </a:ext>
            </a:extLst>
          </p:cNvPr>
          <p:cNvSpPr/>
          <p:nvPr/>
        </p:nvSpPr>
        <p:spPr>
          <a:xfrm>
            <a:off x="5910926" y="2810044"/>
            <a:ext cx="189099" cy="286484"/>
          </a:xfrm>
          <a:prstGeom prst="homePlate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lèche : pentagone 29">
            <a:extLst>
              <a:ext uri="{FF2B5EF4-FFF2-40B4-BE49-F238E27FC236}">
                <a16:creationId xmlns:a16="http://schemas.microsoft.com/office/drawing/2014/main" id="{909A2229-26D1-B8DB-D637-08E7C6D2C5FE}"/>
              </a:ext>
            </a:extLst>
          </p:cNvPr>
          <p:cNvSpPr/>
          <p:nvPr/>
        </p:nvSpPr>
        <p:spPr>
          <a:xfrm>
            <a:off x="5911510" y="3480535"/>
            <a:ext cx="189099" cy="286484"/>
          </a:xfrm>
          <a:prstGeom prst="homePlate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Flèche : pentagone 30">
            <a:extLst>
              <a:ext uri="{FF2B5EF4-FFF2-40B4-BE49-F238E27FC236}">
                <a16:creationId xmlns:a16="http://schemas.microsoft.com/office/drawing/2014/main" id="{21F73820-1131-3794-DA5B-28DB86B164D7}"/>
              </a:ext>
            </a:extLst>
          </p:cNvPr>
          <p:cNvSpPr/>
          <p:nvPr/>
        </p:nvSpPr>
        <p:spPr>
          <a:xfrm>
            <a:off x="5911510" y="4231425"/>
            <a:ext cx="189099" cy="286484"/>
          </a:xfrm>
          <a:prstGeom prst="homePlate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lèche : pentagone 31">
            <a:extLst>
              <a:ext uri="{FF2B5EF4-FFF2-40B4-BE49-F238E27FC236}">
                <a16:creationId xmlns:a16="http://schemas.microsoft.com/office/drawing/2014/main" id="{6876B7EA-9D97-7F42-4535-5C5A666C7086}"/>
              </a:ext>
            </a:extLst>
          </p:cNvPr>
          <p:cNvSpPr/>
          <p:nvPr/>
        </p:nvSpPr>
        <p:spPr>
          <a:xfrm>
            <a:off x="5911510" y="4916408"/>
            <a:ext cx="189099" cy="286484"/>
          </a:xfrm>
          <a:prstGeom prst="homePlate">
            <a:avLst/>
          </a:prstGeom>
          <a:solidFill>
            <a:schemeClr val="tx1"/>
          </a:solidFill>
          <a:ln>
            <a:solidFill>
              <a:schemeClr val="bg2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026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F502641C-6B62-991F-5324-AABB8B4FD91C}"/>
              </a:ext>
            </a:extLst>
          </p:cNvPr>
          <p:cNvSpPr txBox="1">
            <a:spLocks/>
          </p:cNvSpPr>
          <p:nvPr/>
        </p:nvSpPr>
        <p:spPr>
          <a:xfrm>
            <a:off x="1482725" y="81795"/>
            <a:ext cx="9871075" cy="113428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Montserrat" panose="00000500000000000000" pitchFamily="2" charset="0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/>
              <a:t>Planning de la certification </a:t>
            </a: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/>
              <a:t>(Année de M2)</a:t>
            </a:r>
          </a:p>
        </p:txBody>
      </p: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E68562B3-EF4E-0D78-92CE-2F4E5D7AF308}"/>
              </a:ext>
            </a:extLst>
          </p:cNvPr>
          <p:cNvCxnSpPr>
            <a:cxnSpLocks/>
          </p:cNvCxnSpPr>
          <p:nvPr/>
        </p:nvCxnSpPr>
        <p:spPr>
          <a:xfrm flipV="1">
            <a:off x="1123924" y="3576269"/>
            <a:ext cx="10229876" cy="51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1" name="object 10">
            <a:extLst>
              <a:ext uri="{FF2B5EF4-FFF2-40B4-BE49-F238E27FC236}">
                <a16:creationId xmlns:a16="http://schemas.microsoft.com/office/drawing/2014/main" id="{FA9F8BCA-219D-70FA-6490-650FF3EBE74A}"/>
              </a:ext>
            </a:extLst>
          </p:cNvPr>
          <p:cNvSpPr txBox="1"/>
          <p:nvPr/>
        </p:nvSpPr>
        <p:spPr>
          <a:xfrm>
            <a:off x="691640" y="3134247"/>
            <a:ext cx="1009007" cy="258404"/>
          </a:xfrm>
          <a:prstGeom prst="rect">
            <a:avLst/>
          </a:prstGeom>
          <a:noFill/>
        </p:spPr>
        <p:txBody>
          <a:bodyPr vert="horz" wrap="square" lIns="0" tIns="12065" rIns="0" bIns="0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1600" spc="-10">
                <a:latin typeface="Calibri"/>
                <a:cs typeface="Calibri"/>
              </a:rPr>
              <a:t>Rentrée</a:t>
            </a:r>
            <a:r>
              <a:rPr lang="fr-FR" sz="1600" spc="-10">
                <a:latin typeface="Calibri"/>
                <a:cs typeface="Calibri"/>
              </a:rPr>
              <a:t> </a:t>
            </a:r>
          </a:p>
        </p:txBody>
      </p:sp>
      <p:sp>
        <p:nvSpPr>
          <p:cNvPr id="42" name="object 23">
            <a:extLst>
              <a:ext uri="{FF2B5EF4-FFF2-40B4-BE49-F238E27FC236}">
                <a16:creationId xmlns:a16="http://schemas.microsoft.com/office/drawing/2014/main" id="{D8A1A24F-97DC-862F-B319-CEB2241ECD05}"/>
              </a:ext>
            </a:extLst>
          </p:cNvPr>
          <p:cNvSpPr txBox="1"/>
          <p:nvPr/>
        </p:nvSpPr>
        <p:spPr>
          <a:xfrm>
            <a:off x="6968127" y="3756173"/>
            <a:ext cx="1448872" cy="470642"/>
          </a:xfrm>
          <a:prstGeom prst="rect">
            <a:avLst/>
          </a:prstGeom>
        </p:spPr>
        <p:txBody>
          <a:bodyPr vert="horz" wrap="square" lIns="0" tIns="2667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lnSpc>
                <a:spcPct val="100000"/>
              </a:lnSpc>
              <a:spcBef>
                <a:spcPts val="110"/>
              </a:spcBef>
            </a:pPr>
            <a:r>
              <a:rPr sz="1400" b="1" dirty="0">
                <a:latin typeface="+mn-lt"/>
                <a:cs typeface="Arial"/>
              </a:rPr>
              <a:t>BLOC</a:t>
            </a:r>
            <a:r>
              <a:rPr sz="1400" b="1" spc="-35" dirty="0">
                <a:latin typeface="+mn-lt"/>
                <a:cs typeface="Arial"/>
              </a:rPr>
              <a:t> </a:t>
            </a:r>
            <a:r>
              <a:rPr lang="fr-FR" sz="1400" b="1" spc="-50" dirty="0">
                <a:latin typeface="+mn-lt"/>
                <a:cs typeface="Arial"/>
              </a:rPr>
              <a:t>03 : </a:t>
            </a:r>
          </a:p>
          <a:p>
            <a:pPr marL="635" algn="ctr">
              <a:lnSpc>
                <a:spcPct val="100000"/>
              </a:lnSpc>
              <a:spcBef>
                <a:spcPts val="110"/>
              </a:spcBef>
            </a:pPr>
            <a:r>
              <a:rPr lang="fr-FR" sz="1400" b="1" spc="-50" dirty="0">
                <a:cs typeface="Arial"/>
              </a:rPr>
              <a:t>RENDU ECRIT</a:t>
            </a:r>
            <a:endParaRPr sz="1400" b="1" dirty="0">
              <a:latin typeface="+mn-lt"/>
              <a:cs typeface="Arial"/>
            </a:endParaRP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7A061A37-A6A9-9B53-DE1C-AB35DCC2E643}"/>
              </a:ext>
            </a:extLst>
          </p:cNvPr>
          <p:cNvCxnSpPr/>
          <p:nvPr/>
        </p:nvCxnSpPr>
        <p:spPr>
          <a:xfrm>
            <a:off x="7672984" y="3426434"/>
            <a:ext cx="0" cy="152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object 22">
            <a:extLst>
              <a:ext uri="{FF2B5EF4-FFF2-40B4-BE49-F238E27FC236}">
                <a16:creationId xmlns:a16="http://schemas.microsoft.com/office/drawing/2014/main" id="{97E77B04-899D-7147-21E3-48E0DCBEF7C3}"/>
              </a:ext>
            </a:extLst>
          </p:cNvPr>
          <p:cNvSpPr/>
          <p:nvPr/>
        </p:nvSpPr>
        <p:spPr>
          <a:xfrm>
            <a:off x="6930264" y="1783131"/>
            <a:ext cx="1469675" cy="1389758"/>
          </a:xfrm>
          <a:custGeom>
            <a:avLst/>
            <a:gdLst/>
            <a:ahLst/>
            <a:cxnLst/>
            <a:rect l="l" t="t" r="r" b="b"/>
            <a:pathLst>
              <a:path w="1059179" h="1059179">
                <a:moveTo>
                  <a:pt x="529462" y="0"/>
                </a:moveTo>
                <a:lnTo>
                  <a:pt x="481329" y="2159"/>
                </a:lnTo>
                <a:lnTo>
                  <a:pt x="434339" y="8509"/>
                </a:lnTo>
                <a:lnTo>
                  <a:pt x="388746" y="18923"/>
                </a:lnTo>
                <a:lnTo>
                  <a:pt x="344677" y="33147"/>
                </a:lnTo>
                <a:lnTo>
                  <a:pt x="302513" y="50926"/>
                </a:lnTo>
                <a:lnTo>
                  <a:pt x="262254" y="72262"/>
                </a:lnTo>
                <a:lnTo>
                  <a:pt x="224154" y="96900"/>
                </a:lnTo>
                <a:lnTo>
                  <a:pt x="188340" y="124587"/>
                </a:lnTo>
                <a:lnTo>
                  <a:pt x="155066" y="155067"/>
                </a:lnTo>
                <a:lnTo>
                  <a:pt x="124586" y="188341"/>
                </a:lnTo>
                <a:lnTo>
                  <a:pt x="96900" y="224155"/>
                </a:lnTo>
                <a:lnTo>
                  <a:pt x="72262" y="262255"/>
                </a:lnTo>
                <a:lnTo>
                  <a:pt x="50926" y="302513"/>
                </a:lnTo>
                <a:lnTo>
                  <a:pt x="33146" y="344678"/>
                </a:lnTo>
                <a:lnTo>
                  <a:pt x="18922" y="388747"/>
                </a:lnTo>
                <a:lnTo>
                  <a:pt x="8508" y="434340"/>
                </a:lnTo>
                <a:lnTo>
                  <a:pt x="2158" y="481330"/>
                </a:lnTo>
                <a:lnTo>
                  <a:pt x="0" y="529463"/>
                </a:lnTo>
                <a:lnTo>
                  <a:pt x="2158" y="577723"/>
                </a:lnTo>
                <a:lnTo>
                  <a:pt x="8508" y="624713"/>
                </a:lnTo>
                <a:lnTo>
                  <a:pt x="18922" y="670306"/>
                </a:lnTo>
                <a:lnTo>
                  <a:pt x="33146" y="714248"/>
                </a:lnTo>
                <a:lnTo>
                  <a:pt x="50926" y="756412"/>
                </a:lnTo>
                <a:lnTo>
                  <a:pt x="72262" y="796798"/>
                </a:lnTo>
                <a:lnTo>
                  <a:pt x="96900" y="834898"/>
                </a:lnTo>
                <a:lnTo>
                  <a:pt x="124586" y="870585"/>
                </a:lnTo>
                <a:lnTo>
                  <a:pt x="155066" y="903859"/>
                </a:lnTo>
                <a:lnTo>
                  <a:pt x="188340" y="934466"/>
                </a:lnTo>
                <a:lnTo>
                  <a:pt x="224154" y="962152"/>
                </a:lnTo>
                <a:lnTo>
                  <a:pt x="262254" y="986663"/>
                </a:lnTo>
                <a:lnTo>
                  <a:pt x="302513" y="1008024"/>
                </a:lnTo>
                <a:lnTo>
                  <a:pt x="344677" y="1025880"/>
                </a:lnTo>
                <a:lnTo>
                  <a:pt x="388746" y="1040091"/>
                </a:lnTo>
                <a:lnTo>
                  <a:pt x="434339" y="1050467"/>
                </a:lnTo>
                <a:lnTo>
                  <a:pt x="481329" y="1056843"/>
                </a:lnTo>
                <a:lnTo>
                  <a:pt x="529462" y="1059002"/>
                </a:lnTo>
                <a:lnTo>
                  <a:pt x="577722" y="1056843"/>
                </a:lnTo>
                <a:lnTo>
                  <a:pt x="624712" y="1050467"/>
                </a:lnTo>
                <a:lnTo>
                  <a:pt x="670305" y="1040091"/>
                </a:lnTo>
                <a:lnTo>
                  <a:pt x="714247" y="1025880"/>
                </a:lnTo>
                <a:lnTo>
                  <a:pt x="756538" y="1008024"/>
                </a:lnTo>
                <a:lnTo>
                  <a:pt x="796797" y="986663"/>
                </a:lnTo>
                <a:lnTo>
                  <a:pt x="834897" y="962152"/>
                </a:lnTo>
                <a:lnTo>
                  <a:pt x="870711" y="934466"/>
                </a:lnTo>
                <a:lnTo>
                  <a:pt x="903985" y="903859"/>
                </a:lnTo>
                <a:lnTo>
                  <a:pt x="934465" y="870585"/>
                </a:lnTo>
                <a:lnTo>
                  <a:pt x="962151" y="834898"/>
                </a:lnTo>
                <a:lnTo>
                  <a:pt x="986789" y="796798"/>
                </a:lnTo>
                <a:lnTo>
                  <a:pt x="1007998" y="756412"/>
                </a:lnTo>
                <a:lnTo>
                  <a:pt x="1025905" y="714248"/>
                </a:lnTo>
                <a:lnTo>
                  <a:pt x="1040129" y="670306"/>
                </a:lnTo>
                <a:lnTo>
                  <a:pt x="1050543" y="624713"/>
                </a:lnTo>
                <a:lnTo>
                  <a:pt x="1056893" y="577723"/>
                </a:lnTo>
                <a:lnTo>
                  <a:pt x="1059052" y="529463"/>
                </a:lnTo>
                <a:lnTo>
                  <a:pt x="1056893" y="481330"/>
                </a:lnTo>
                <a:lnTo>
                  <a:pt x="1050543" y="434340"/>
                </a:lnTo>
                <a:lnTo>
                  <a:pt x="1040129" y="388747"/>
                </a:lnTo>
                <a:lnTo>
                  <a:pt x="1025905" y="344678"/>
                </a:lnTo>
                <a:lnTo>
                  <a:pt x="1007998" y="302513"/>
                </a:lnTo>
                <a:lnTo>
                  <a:pt x="986789" y="262255"/>
                </a:lnTo>
                <a:lnTo>
                  <a:pt x="962151" y="224155"/>
                </a:lnTo>
                <a:lnTo>
                  <a:pt x="934465" y="188341"/>
                </a:lnTo>
                <a:lnTo>
                  <a:pt x="903985" y="155067"/>
                </a:lnTo>
                <a:lnTo>
                  <a:pt x="870711" y="124587"/>
                </a:lnTo>
                <a:lnTo>
                  <a:pt x="834897" y="96900"/>
                </a:lnTo>
                <a:lnTo>
                  <a:pt x="796797" y="72262"/>
                </a:lnTo>
                <a:lnTo>
                  <a:pt x="756538" y="50926"/>
                </a:lnTo>
                <a:lnTo>
                  <a:pt x="714247" y="33147"/>
                </a:lnTo>
                <a:lnTo>
                  <a:pt x="670305" y="18923"/>
                </a:lnTo>
                <a:lnTo>
                  <a:pt x="624712" y="8509"/>
                </a:lnTo>
                <a:lnTo>
                  <a:pt x="577722" y="2159"/>
                </a:lnTo>
                <a:lnTo>
                  <a:pt x="529462" y="0"/>
                </a:lnTo>
                <a:close/>
              </a:path>
            </a:pathLst>
          </a:custGeom>
          <a:solidFill>
            <a:srgbClr val="00EAFF"/>
          </a:solidFill>
        </p:spPr>
        <p:txBody>
          <a:bodyPr wrap="square" lIns="0" tIns="0" rIns="0" bIns="0" rtlCol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45" name="object 22">
            <a:extLst>
              <a:ext uri="{FF2B5EF4-FFF2-40B4-BE49-F238E27FC236}">
                <a16:creationId xmlns:a16="http://schemas.microsoft.com/office/drawing/2014/main" id="{DB880083-EAA5-BDC5-20D1-331D6E44D80A}"/>
              </a:ext>
            </a:extLst>
          </p:cNvPr>
          <p:cNvSpPr txBox="1"/>
          <p:nvPr/>
        </p:nvSpPr>
        <p:spPr>
          <a:xfrm>
            <a:off x="10371074" y="3756173"/>
            <a:ext cx="1429385" cy="71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" marR="5080" algn="ctr">
              <a:lnSpc>
                <a:spcPct val="106900"/>
              </a:lnSpc>
              <a:spcBef>
                <a:spcPts val="100"/>
              </a:spcBef>
              <a:tabLst>
                <a:tab pos="274320" algn="l"/>
                <a:tab pos="299085" algn="l"/>
              </a:tabLst>
            </a:pPr>
            <a:r>
              <a:rPr lang="it-IT" sz="1400" dirty="0">
                <a:latin typeface="+mj-lt"/>
                <a:cs typeface="Arial"/>
              </a:rPr>
              <a:t>Jury </a:t>
            </a:r>
          </a:p>
          <a:p>
            <a:pPr marL="12065" marR="5080" algn="ctr">
              <a:lnSpc>
                <a:spcPct val="106900"/>
              </a:lnSpc>
              <a:spcBef>
                <a:spcPts val="100"/>
              </a:spcBef>
              <a:tabLst>
                <a:tab pos="274320" algn="l"/>
                <a:tab pos="299085" algn="l"/>
              </a:tabLst>
            </a:pPr>
            <a:r>
              <a:rPr lang="it-IT" sz="1400" dirty="0">
                <a:latin typeface="+mj-lt"/>
                <a:cs typeface="Arial"/>
              </a:rPr>
              <a:t>de </a:t>
            </a:r>
          </a:p>
          <a:p>
            <a:pPr marL="12065" marR="5080" algn="ctr">
              <a:lnSpc>
                <a:spcPct val="106900"/>
              </a:lnSpc>
              <a:spcBef>
                <a:spcPts val="100"/>
              </a:spcBef>
              <a:tabLst>
                <a:tab pos="274320" algn="l"/>
                <a:tab pos="299085" algn="l"/>
              </a:tabLst>
            </a:pPr>
            <a:r>
              <a:rPr lang="it-IT" sz="1400" dirty="0">
                <a:latin typeface="+mj-lt"/>
                <a:cs typeface="Arial"/>
              </a:rPr>
              <a:t>certification</a:t>
            </a:r>
          </a:p>
        </p:txBody>
      </p:sp>
      <p:sp>
        <p:nvSpPr>
          <p:cNvPr id="46" name="object 22">
            <a:extLst>
              <a:ext uri="{FF2B5EF4-FFF2-40B4-BE49-F238E27FC236}">
                <a16:creationId xmlns:a16="http://schemas.microsoft.com/office/drawing/2014/main" id="{42767688-6EDD-2EF1-7445-8F64F4077548}"/>
              </a:ext>
            </a:extLst>
          </p:cNvPr>
          <p:cNvSpPr/>
          <p:nvPr/>
        </p:nvSpPr>
        <p:spPr>
          <a:xfrm>
            <a:off x="10611996" y="2320244"/>
            <a:ext cx="888364" cy="854284"/>
          </a:xfrm>
          <a:custGeom>
            <a:avLst/>
            <a:gdLst/>
            <a:ahLst/>
            <a:cxnLst/>
            <a:rect l="l" t="t" r="r" b="b"/>
            <a:pathLst>
              <a:path w="1059179" h="1059179">
                <a:moveTo>
                  <a:pt x="529462" y="0"/>
                </a:moveTo>
                <a:lnTo>
                  <a:pt x="481329" y="2159"/>
                </a:lnTo>
                <a:lnTo>
                  <a:pt x="434339" y="8509"/>
                </a:lnTo>
                <a:lnTo>
                  <a:pt x="388746" y="18923"/>
                </a:lnTo>
                <a:lnTo>
                  <a:pt x="344677" y="33147"/>
                </a:lnTo>
                <a:lnTo>
                  <a:pt x="302513" y="50926"/>
                </a:lnTo>
                <a:lnTo>
                  <a:pt x="262254" y="72262"/>
                </a:lnTo>
                <a:lnTo>
                  <a:pt x="224154" y="96900"/>
                </a:lnTo>
                <a:lnTo>
                  <a:pt x="188340" y="124587"/>
                </a:lnTo>
                <a:lnTo>
                  <a:pt x="155066" y="155067"/>
                </a:lnTo>
                <a:lnTo>
                  <a:pt x="124586" y="188341"/>
                </a:lnTo>
                <a:lnTo>
                  <a:pt x="96900" y="224155"/>
                </a:lnTo>
                <a:lnTo>
                  <a:pt x="72262" y="262255"/>
                </a:lnTo>
                <a:lnTo>
                  <a:pt x="50926" y="302513"/>
                </a:lnTo>
                <a:lnTo>
                  <a:pt x="33146" y="344678"/>
                </a:lnTo>
                <a:lnTo>
                  <a:pt x="18922" y="388747"/>
                </a:lnTo>
                <a:lnTo>
                  <a:pt x="8508" y="434340"/>
                </a:lnTo>
                <a:lnTo>
                  <a:pt x="2158" y="481330"/>
                </a:lnTo>
                <a:lnTo>
                  <a:pt x="0" y="529463"/>
                </a:lnTo>
                <a:lnTo>
                  <a:pt x="2158" y="577723"/>
                </a:lnTo>
                <a:lnTo>
                  <a:pt x="8508" y="624713"/>
                </a:lnTo>
                <a:lnTo>
                  <a:pt x="18922" y="670306"/>
                </a:lnTo>
                <a:lnTo>
                  <a:pt x="33146" y="714248"/>
                </a:lnTo>
                <a:lnTo>
                  <a:pt x="50926" y="756412"/>
                </a:lnTo>
                <a:lnTo>
                  <a:pt x="72262" y="796798"/>
                </a:lnTo>
                <a:lnTo>
                  <a:pt x="96900" y="834898"/>
                </a:lnTo>
                <a:lnTo>
                  <a:pt x="124586" y="870585"/>
                </a:lnTo>
                <a:lnTo>
                  <a:pt x="155066" y="903859"/>
                </a:lnTo>
                <a:lnTo>
                  <a:pt x="188340" y="934466"/>
                </a:lnTo>
                <a:lnTo>
                  <a:pt x="224154" y="962152"/>
                </a:lnTo>
                <a:lnTo>
                  <a:pt x="262254" y="986663"/>
                </a:lnTo>
                <a:lnTo>
                  <a:pt x="302513" y="1008024"/>
                </a:lnTo>
                <a:lnTo>
                  <a:pt x="344677" y="1025880"/>
                </a:lnTo>
                <a:lnTo>
                  <a:pt x="388746" y="1040091"/>
                </a:lnTo>
                <a:lnTo>
                  <a:pt x="434339" y="1050467"/>
                </a:lnTo>
                <a:lnTo>
                  <a:pt x="481329" y="1056843"/>
                </a:lnTo>
                <a:lnTo>
                  <a:pt x="529462" y="1059002"/>
                </a:lnTo>
                <a:lnTo>
                  <a:pt x="577722" y="1056843"/>
                </a:lnTo>
                <a:lnTo>
                  <a:pt x="624712" y="1050467"/>
                </a:lnTo>
                <a:lnTo>
                  <a:pt x="670305" y="1040091"/>
                </a:lnTo>
                <a:lnTo>
                  <a:pt x="714247" y="1025880"/>
                </a:lnTo>
                <a:lnTo>
                  <a:pt x="756538" y="1008024"/>
                </a:lnTo>
                <a:lnTo>
                  <a:pt x="796797" y="986663"/>
                </a:lnTo>
                <a:lnTo>
                  <a:pt x="834897" y="962152"/>
                </a:lnTo>
                <a:lnTo>
                  <a:pt x="870711" y="934466"/>
                </a:lnTo>
                <a:lnTo>
                  <a:pt x="903985" y="903859"/>
                </a:lnTo>
                <a:lnTo>
                  <a:pt x="934465" y="870585"/>
                </a:lnTo>
                <a:lnTo>
                  <a:pt x="962151" y="834898"/>
                </a:lnTo>
                <a:lnTo>
                  <a:pt x="986789" y="796798"/>
                </a:lnTo>
                <a:lnTo>
                  <a:pt x="1007998" y="756412"/>
                </a:lnTo>
                <a:lnTo>
                  <a:pt x="1025905" y="714248"/>
                </a:lnTo>
                <a:lnTo>
                  <a:pt x="1040129" y="670306"/>
                </a:lnTo>
                <a:lnTo>
                  <a:pt x="1050543" y="624713"/>
                </a:lnTo>
                <a:lnTo>
                  <a:pt x="1056893" y="577723"/>
                </a:lnTo>
                <a:lnTo>
                  <a:pt x="1059052" y="529463"/>
                </a:lnTo>
                <a:lnTo>
                  <a:pt x="1056893" y="481330"/>
                </a:lnTo>
                <a:lnTo>
                  <a:pt x="1050543" y="434340"/>
                </a:lnTo>
                <a:lnTo>
                  <a:pt x="1040129" y="388747"/>
                </a:lnTo>
                <a:lnTo>
                  <a:pt x="1025905" y="344678"/>
                </a:lnTo>
                <a:lnTo>
                  <a:pt x="1007998" y="302513"/>
                </a:lnTo>
                <a:lnTo>
                  <a:pt x="986789" y="262255"/>
                </a:lnTo>
                <a:lnTo>
                  <a:pt x="962151" y="224155"/>
                </a:lnTo>
                <a:lnTo>
                  <a:pt x="934465" y="188341"/>
                </a:lnTo>
                <a:lnTo>
                  <a:pt x="903985" y="155067"/>
                </a:lnTo>
                <a:lnTo>
                  <a:pt x="870711" y="124587"/>
                </a:lnTo>
                <a:lnTo>
                  <a:pt x="834897" y="96900"/>
                </a:lnTo>
                <a:lnTo>
                  <a:pt x="796797" y="72262"/>
                </a:lnTo>
                <a:lnTo>
                  <a:pt x="756538" y="50926"/>
                </a:lnTo>
                <a:lnTo>
                  <a:pt x="714247" y="33147"/>
                </a:lnTo>
                <a:lnTo>
                  <a:pt x="670305" y="18923"/>
                </a:lnTo>
                <a:lnTo>
                  <a:pt x="624712" y="8509"/>
                </a:lnTo>
                <a:lnTo>
                  <a:pt x="577722" y="2159"/>
                </a:lnTo>
                <a:lnTo>
                  <a:pt x="529462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47" name="ZoneTexte 15">
            <a:extLst>
              <a:ext uri="{FF2B5EF4-FFF2-40B4-BE49-F238E27FC236}">
                <a16:creationId xmlns:a16="http://schemas.microsoft.com/office/drawing/2014/main" id="{F1F753BD-73FD-4679-D336-41955AA0351C}"/>
              </a:ext>
            </a:extLst>
          </p:cNvPr>
          <p:cNvSpPr txBox="1"/>
          <p:nvPr/>
        </p:nvSpPr>
        <p:spPr>
          <a:xfrm>
            <a:off x="10632000" y="2590527"/>
            <a:ext cx="848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400">
                <a:latin typeface="+mj-lt"/>
              </a:rPr>
              <a:t>OCT.</a:t>
            </a:r>
            <a:endParaRPr lang="fr-FR" sz="1200">
              <a:latin typeface="+mj-lt"/>
            </a:endParaRPr>
          </a:p>
        </p:txBody>
      </p:sp>
      <p:sp>
        <p:nvSpPr>
          <p:cNvPr id="48" name="object 23">
            <a:extLst>
              <a:ext uri="{FF2B5EF4-FFF2-40B4-BE49-F238E27FC236}">
                <a16:creationId xmlns:a16="http://schemas.microsoft.com/office/drawing/2014/main" id="{9D42477F-21DC-BBAD-0A2C-DA100B95AA20}"/>
              </a:ext>
            </a:extLst>
          </p:cNvPr>
          <p:cNvSpPr txBox="1"/>
          <p:nvPr/>
        </p:nvSpPr>
        <p:spPr>
          <a:xfrm>
            <a:off x="5185505" y="3732217"/>
            <a:ext cx="1448872" cy="470642"/>
          </a:xfrm>
          <a:prstGeom prst="rect">
            <a:avLst/>
          </a:prstGeom>
        </p:spPr>
        <p:txBody>
          <a:bodyPr vert="horz" wrap="square" lIns="0" tIns="2667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lnSpc>
                <a:spcPct val="100000"/>
              </a:lnSpc>
              <a:spcBef>
                <a:spcPts val="110"/>
              </a:spcBef>
            </a:pPr>
            <a:r>
              <a:rPr sz="1400" b="1" dirty="0">
                <a:latin typeface="+mn-lt"/>
                <a:cs typeface="Arial"/>
              </a:rPr>
              <a:t>BLOC</a:t>
            </a:r>
            <a:r>
              <a:rPr sz="1400" b="1" spc="-35" dirty="0">
                <a:latin typeface="+mn-lt"/>
                <a:cs typeface="Arial"/>
              </a:rPr>
              <a:t> </a:t>
            </a:r>
            <a:r>
              <a:rPr lang="fr-FR" sz="1400" b="1" spc="-50" dirty="0">
                <a:latin typeface="+mn-lt"/>
                <a:cs typeface="Arial"/>
              </a:rPr>
              <a:t>02 : </a:t>
            </a:r>
          </a:p>
          <a:p>
            <a:pPr marL="635" algn="ctr">
              <a:lnSpc>
                <a:spcPct val="100000"/>
              </a:lnSpc>
              <a:spcBef>
                <a:spcPts val="110"/>
              </a:spcBef>
            </a:pPr>
            <a:r>
              <a:rPr lang="fr-FR" sz="1400" b="1" spc="-50" dirty="0">
                <a:cs typeface="Arial"/>
              </a:rPr>
              <a:t>RENDU ECRIT</a:t>
            </a:r>
            <a:endParaRPr sz="1400" b="1" dirty="0">
              <a:latin typeface="+mn-lt"/>
              <a:cs typeface="Arial"/>
            </a:endParaRPr>
          </a:p>
        </p:txBody>
      </p: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2398CA70-ED89-CB3E-ABCB-1053267CC102}"/>
              </a:ext>
            </a:extLst>
          </p:cNvPr>
          <p:cNvCxnSpPr/>
          <p:nvPr/>
        </p:nvCxnSpPr>
        <p:spPr>
          <a:xfrm>
            <a:off x="5980466" y="3426434"/>
            <a:ext cx="0" cy="152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object 22">
            <a:extLst>
              <a:ext uri="{FF2B5EF4-FFF2-40B4-BE49-F238E27FC236}">
                <a16:creationId xmlns:a16="http://schemas.microsoft.com/office/drawing/2014/main" id="{E7919BA8-3D0C-2373-401A-CABA7F1339BA}"/>
              </a:ext>
            </a:extLst>
          </p:cNvPr>
          <p:cNvSpPr/>
          <p:nvPr/>
        </p:nvSpPr>
        <p:spPr>
          <a:xfrm>
            <a:off x="5245629" y="1783131"/>
            <a:ext cx="1469675" cy="1389758"/>
          </a:xfrm>
          <a:custGeom>
            <a:avLst/>
            <a:gdLst/>
            <a:ahLst/>
            <a:cxnLst/>
            <a:rect l="l" t="t" r="r" b="b"/>
            <a:pathLst>
              <a:path w="1059179" h="1059179">
                <a:moveTo>
                  <a:pt x="529462" y="0"/>
                </a:moveTo>
                <a:lnTo>
                  <a:pt x="481329" y="2159"/>
                </a:lnTo>
                <a:lnTo>
                  <a:pt x="434339" y="8509"/>
                </a:lnTo>
                <a:lnTo>
                  <a:pt x="388746" y="18923"/>
                </a:lnTo>
                <a:lnTo>
                  <a:pt x="344677" y="33147"/>
                </a:lnTo>
                <a:lnTo>
                  <a:pt x="302513" y="50926"/>
                </a:lnTo>
                <a:lnTo>
                  <a:pt x="262254" y="72262"/>
                </a:lnTo>
                <a:lnTo>
                  <a:pt x="224154" y="96900"/>
                </a:lnTo>
                <a:lnTo>
                  <a:pt x="188340" y="124587"/>
                </a:lnTo>
                <a:lnTo>
                  <a:pt x="155066" y="155067"/>
                </a:lnTo>
                <a:lnTo>
                  <a:pt x="124586" y="188341"/>
                </a:lnTo>
                <a:lnTo>
                  <a:pt x="96900" y="224155"/>
                </a:lnTo>
                <a:lnTo>
                  <a:pt x="72262" y="262255"/>
                </a:lnTo>
                <a:lnTo>
                  <a:pt x="50926" y="302513"/>
                </a:lnTo>
                <a:lnTo>
                  <a:pt x="33146" y="344678"/>
                </a:lnTo>
                <a:lnTo>
                  <a:pt x="18922" y="388747"/>
                </a:lnTo>
                <a:lnTo>
                  <a:pt x="8508" y="434340"/>
                </a:lnTo>
                <a:lnTo>
                  <a:pt x="2158" y="481330"/>
                </a:lnTo>
                <a:lnTo>
                  <a:pt x="0" y="529463"/>
                </a:lnTo>
                <a:lnTo>
                  <a:pt x="2158" y="577723"/>
                </a:lnTo>
                <a:lnTo>
                  <a:pt x="8508" y="624713"/>
                </a:lnTo>
                <a:lnTo>
                  <a:pt x="18922" y="670306"/>
                </a:lnTo>
                <a:lnTo>
                  <a:pt x="33146" y="714248"/>
                </a:lnTo>
                <a:lnTo>
                  <a:pt x="50926" y="756412"/>
                </a:lnTo>
                <a:lnTo>
                  <a:pt x="72262" y="796798"/>
                </a:lnTo>
                <a:lnTo>
                  <a:pt x="96900" y="834898"/>
                </a:lnTo>
                <a:lnTo>
                  <a:pt x="124586" y="870585"/>
                </a:lnTo>
                <a:lnTo>
                  <a:pt x="155066" y="903859"/>
                </a:lnTo>
                <a:lnTo>
                  <a:pt x="188340" y="934466"/>
                </a:lnTo>
                <a:lnTo>
                  <a:pt x="224154" y="962152"/>
                </a:lnTo>
                <a:lnTo>
                  <a:pt x="262254" y="986663"/>
                </a:lnTo>
                <a:lnTo>
                  <a:pt x="302513" y="1008024"/>
                </a:lnTo>
                <a:lnTo>
                  <a:pt x="344677" y="1025880"/>
                </a:lnTo>
                <a:lnTo>
                  <a:pt x="388746" y="1040091"/>
                </a:lnTo>
                <a:lnTo>
                  <a:pt x="434339" y="1050467"/>
                </a:lnTo>
                <a:lnTo>
                  <a:pt x="481329" y="1056843"/>
                </a:lnTo>
                <a:lnTo>
                  <a:pt x="529462" y="1059002"/>
                </a:lnTo>
                <a:lnTo>
                  <a:pt x="577722" y="1056843"/>
                </a:lnTo>
                <a:lnTo>
                  <a:pt x="624712" y="1050467"/>
                </a:lnTo>
                <a:lnTo>
                  <a:pt x="670305" y="1040091"/>
                </a:lnTo>
                <a:lnTo>
                  <a:pt x="714247" y="1025880"/>
                </a:lnTo>
                <a:lnTo>
                  <a:pt x="756538" y="1008024"/>
                </a:lnTo>
                <a:lnTo>
                  <a:pt x="796797" y="986663"/>
                </a:lnTo>
                <a:lnTo>
                  <a:pt x="834897" y="962152"/>
                </a:lnTo>
                <a:lnTo>
                  <a:pt x="870711" y="934466"/>
                </a:lnTo>
                <a:lnTo>
                  <a:pt x="903985" y="903859"/>
                </a:lnTo>
                <a:lnTo>
                  <a:pt x="934465" y="870585"/>
                </a:lnTo>
                <a:lnTo>
                  <a:pt x="962151" y="834898"/>
                </a:lnTo>
                <a:lnTo>
                  <a:pt x="986789" y="796798"/>
                </a:lnTo>
                <a:lnTo>
                  <a:pt x="1007998" y="756412"/>
                </a:lnTo>
                <a:lnTo>
                  <a:pt x="1025905" y="714248"/>
                </a:lnTo>
                <a:lnTo>
                  <a:pt x="1040129" y="670306"/>
                </a:lnTo>
                <a:lnTo>
                  <a:pt x="1050543" y="624713"/>
                </a:lnTo>
                <a:lnTo>
                  <a:pt x="1056893" y="577723"/>
                </a:lnTo>
                <a:lnTo>
                  <a:pt x="1059052" y="529463"/>
                </a:lnTo>
                <a:lnTo>
                  <a:pt x="1056893" y="481330"/>
                </a:lnTo>
                <a:lnTo>
                  <a:pt x="1050543" y="434340"/>
                </a:lnTo>
                <a:lnTo>
                  <a:pt x="1040129" y="388747"/>
                </a:lnTo>
                <a:lnTo>
                  <a:pt x="1025905" y="344678"/>
                </a:lnTo>
                <a:lnTo>
                  <a:pt x="1007998" y="302513"/>
                </a:lnTo>
                <a:lnTo>
                  <a:pt x="986789" y="262255"/>
                </a:lnTo>
                <a:lnTo>
                  <a:pt x="962151" y="224155"/>
                </a:lnTo>
                <a:lnTo>
                  <a:pt x="934465" y="188341"/>
                </a:lnTo>
                <a:lnTo>
                  <a:pt x="903985" y="155067"/>
                </a:lnTo>
                <a:lnTo>
                  <a:pt x="870711" y="124587"/>
                </a:lnTo>
                <a:lnTo>
                  <a:pt x="834897" y="96900"/>
                </a:lnTo>
                <a:lnTo>
                  <a:pt x="796797" y="72262"/>
                </a:lnTo>
                <a:lnTo>
                  <a:pt x="756538" y="50926"/>
                </a:lnTo>
                <a:lnTo>
                  <a:pt x="714247" y="33147"/>
                </a:lnTo>
                <a:lnTo>
                  <a:pt x="670305" y="18923"/>
                </a:lnTo>
                <a:lnTo>
                  <a:pt x="624712" y="8509"/>
                </a:lnTo>
                <a:lnTo>
                  <a:pt x="577722" y="2159"/>
                </a:lnTo>
                <a:lnTo>
                  <a:pt x="529462" y="0"/>
                </a:lnTo>
                <a:close/>
              </a:path>
            </a:pathLst>
          </a:custGeom>
          <a:solidFill>
            <a:srgbClr val="00EAFF"/>
          </a:solidFill>
        </p:spPr>
        <p:txBody>
          <a:bodyPr wrap="square" lIns="0" tIns="0" rIns="0" bIns="0" rtlCol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1" name="object 23">
            <a:extLst>
              <a:ext uri="{FF2B5EF4-FFF2-40B4-BE49-F238E27FC236}">
                <a16:creationId xmlns:a16="http://schemas.microsoft.com/office/drawing/2014/main" id="{66C077C0-8FED-FA84-F7BE-1854A797AEB9}"/>
              </a:ext>
            </a:extLst>
          </p:cNvPr>
          <p:cNvSpPr txBox="1"/>
          <p:nvPr/>
        </p:nvSpPr>
        <p:spPr>
          <a:xfrm>
            <a:off x="3479217" y="3732217"/>
            <a:ext cx="1448872" cy="470642"/>
          </a:xfrm>
          <a:prstGeom prst="rect">
            <a:avLst/>
          </a:prstGeom>
        </p:spPr>
        <p:txBody>
          <a:bodyPr vert="horz" wrap="square" lIns="0" tIns="2667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spcBef>
                <a:spcPts val="110"/>
              </a:spcBef>
            </a:pPr>
            <a:r>
              <a:rPr sz="1400" b="1" dirty="0">
                <a:latin typeface="+mn-lt"/>
                <a:cs typeface="Arial"/>
              </a:rPr>
              <a:t>BLOC</a:t>
            </a:r>
            <a:r>
              <a:rPr sz="1400" b="1" spc="-35" dirty="0">
                <a:latin typeface="+mn-lt"/>
                <a:cs typeface="Arial"/>
              </a:rPr>
              <a:t> </a:t>
            </a:r>
            <a:r>
              <a:rPr lang="fr-FR" sz="1400" b="1" spc="-50" dirty="0">
                <a:latin typeface="+mn-lt"/>
                <a:cs typeface="Arial"/>
              </a:rPr>
              <a:t>01 : </a:t>
            </a:r>
          </a:p>
          <a:p>
            <a:pPr marL="635" algn="ctr">
              <a:spcBef>
                <a:spcPts val="110"/>
              </a:spcBef>
            </a:pPr>
            <a:r>
              <a:rPr lang="fr-FR" sz="1400" b="1" spc="-50" dirty="0">
                <a:latin typeface="+mn-lt"/>
                <a:cs typeface="Arial"/>
              </a:rPr>
              <a:t>RENDU </a:t>
            </a:r>
            <a:r>
              <a:rPr lang="fr-FR" sz="1400" b="1" spc="-50" dirty="0">
                <a:cs typeface="Arial"/>
              </a:rPr>
              <a:t>ECRIT</a:t>
            </a:r>
            <a:endParaRPr lang="fr-FR" sz="1400" b="1" spc="-50" dirty="0">
              <a:latin typeface="+mn-lt"/>
              <a:ea typeface="Calibri"/>
              <a:cs typeface="Arial"/>
            </a:endParaRPr>
          </a:p>
        </p:txBody>
      </p:sp>
      <p:cxnSp>
        <p:nvCxnSpPr>
          <p:cNvPr id="52" name="Connecteur droit 51">
            <a:extLst>
              <a:ext uri="{FF2B5EF4-FFF2-40B4-BE49-F238E27FC236}">
                <a16:creationId xmlns:a16="http://schemas.microsoft.com/office/drawing/2014/main" id="{36AA71CC-E55E-BB69-4A50-F8234B08C351}"/>
              </a:ext>
            </a:extLst>
          </p:cNvPr>
          <p:cNvCxnSpPr/>
          <p:nvPr/>
        </p:nvCxnSpPr>
        <p:spPr>
          <a:xfrm>
            <a:off x="4230906" y="3388800"/>
            <a:ext cx="0" cy="152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object 22">
            <a:extLst>
              <a:ext uri="{FF2B5EF4-FFF2-40B4-BE49-F238E27FC236}">
                <a16:creationId xmlns:a16="http://schemas.microsoft.com/office/drawing/2014/main" id="{5F899255-2814-7A62-F736-BB175BA96BB7}"/>
              </a:ext>
            </a:extLst>
          </p:cNvPr>
          <p:cNvSpPr/>
          <p:nvPr/>
        </p:nvSpPr>
        <p:spPr>
          <a:xfrm>
            <a:off x="3492185" y="1783131"/>
            <a:ext cx="1469675" cy="1389758"/>
          </a:xfrm>
          <a:custGeom>
            <a:avLst/>
            <a:gdLst/>
            <a:ahLst/>
            <a:cxnLst/>
            <a:rect l="l" t="t" r="r" b="b"/>
            <a:pathLst>
              <a:path w="1059179" h="1059179">
                <a:moveTo>
                  <a:pt x="529462" y="0"/>
                </a:moveTo>
                <a:lnTo>
                  <a:pt x="481329" y="2159"/>
                </a:lnTo>
                <a:lnTo>
                  <a:pt x="434339" y="8509"/>
                </a:lnTo>
                <a:lnTo>
                  <a:pt x="388746" y="18923"/>
                </a:lnTo>
                <a:lnTo>
                  <a:pt x="344677" y="33147"/>
                </a:lnTo>
                <a:lnTo>
                  <a:pt x="302513" y="50926"/>
                </a:lnTo>
                <a:lnTo>
                  <a:pt x="262254" y="72262"/>
                </a:lnTo>
                <a:lnTo>
                  <a:pt x="224154" y="96900"/>
                </a:lnTo>
                <a:lnTo>
                  <a:pt x="188340" y="124587"/>
                </a:lnTo>
                <a:lnTo>
                  <a:pt x="155066" y="155067"/>
                </a:lnTo>
                <a:lnTo>
                  <a:pt x="124586" y="188341"/>
                </a:lnTo>
                <a:lnTo>
                  <a:pt x="96900" y="224155"/>
                </a:lnTo>
                <a:lnTo>
                  <a:pt x="72262" y="262255"/>
                </a:lnTo>
                <a:lnTo>
                  <a:pt x="50926" y="302513"/>
                </a:lnTo>
                <a:lnTo>
                  <a:pt x="33146" y="344678"/>
                </a:lnTo>
                <a:lnTo>
                  <a:pt x="18922" y="388747"/>
                </a:lnTo>
                <a:lnTo>
                  <a:pt x="8508" y="434340"/>
                </a:lnTo>
                <a:lnTo>
                  <a:pt x="2158" y="481330"/>
                </a:lnTo>
                <a:lnTo>
                  <a:pt x="0" y="529463"/>
                </a:lnTo>
                <a:lnTo>
                  <a:pt x="2158" y="577723"/>
                </a:lnTo>
                <a:lnTo>
                  <a:pt x="8508" y="624713"/>
                </a:lnTo>
                <a:lnTo>
                  <a:pt x="18922" y="670306"/>
                </a:lnTo>
                <a:lnTo>
                  <a:pt x="33146" y="714248"/>
                </a:lnTo>
                <a:lnTo>
                  <a:pt x="50926" y="756412"/>
                </a:lnTo>
                <a:lnTo>
                  <a:pt x="72262" y="796798"/>
                </a:lnTo>
                <a:lnTo>
                  <a:pt x="96900" y="834898"/>
                </a:lnTo>
                <a:lnTo>
                  <a:pt x="124586" y="870585"/>
                </a:lnTo>
                <a:lnTo>
                  <a:pt x="155066" y="903859"/>
                </a:lnTo>
                <a:lnTo>
                  <a:pt x="188340" y="934466"/>
                </a:lnTo>
                <a:lnTo>
                  <a:pt x="224154" y="962152"/>
                </a:lnTo>
                <a:lnTo>
                  <a:pt x="262254" y="986663"/>
                </a:lnTo>
                <a:lnTo>
                  <a:pt x="302513" y="1008024"/>
                </a:lnTo>
                <a:lnTo>
                  <a:pt x="344677" y="1025880"/>
                </a:lnTo>
                <a:lnTo>
                  <a:pt x="388746" y="1040091"/>
                </a:lnTo>
                <a:lnTo>
                  <a:pt x="434339" y="1050467"/>
                </a:lnTo>
                <a:lnTo>
                  <a:pt x="481329" y="1056843"/>
                </a:lnTo>
                <a:lnTo>
                  <a:pt x="529462" y="1059002"/>
                </a:lnTo>
                <a:lnTo>
                  <a:pt x="577722" y="1056843"/>
                </a:lnTo>
                <a:lnTo>
                  <a:pt x="624712" y="1050467"/>
                </a:lnTo>
                <a:lnTo>
                  <a:pt x="670305" y="1040091"/>
                </a:lnTo>
                <a:lnTo>
                  <a:pt x="714247" y="1025880"/>
                </a:lnTo>
                <a:lnTo>
                  <a:pt x="756538" y="1008024"/>
                </a:lnTo>
                <a:lnTo>
                  <a:pt x="796797" y="986663"/>
                </a:lnTo>
                <a:lnTo>
                  <a:pt x="834897" y="962152"/>
                </a:lnTo>
                <a:lnTo>
                  <a:pt x="870711" y="934466"/>
                </a:lnTo>
                <a:lnTo>
                  <a:pt x="903985" y="903859"/>
                </a:lnTo>
                <a:lnTo>
                  <a:pt x="934465" y="870585"/>
                </a:lnTo>
                <a:lnTo>
                  <a:pt x="962151" y="834898"/>
                </a:lnTo>
                <a:lnTo>
                  <a:pt x="986789" y="796798"/>
                </a:lnTo>
                <a:lnTo>
                  <a:pt x="1007998" y="756412"/>
                </a:lnTo>
                <a:lnTo>
                  <a:pt x="1025905" y="714248"/>
                </a:lnTo>
                <a:lnTo>
                  <a:pt x="1040129" y="670306"/>
                </a:lnTo>
                <a:lnTo>
                  <a:pt x="1050543" y="624713"/>
                </a:lnTo>
                <a:lnTo>
                  <a:pt x="1056893" y="577723"/>
                </a:lnTo>
                <a:lnTo>
                  <a:pt x="1059052" y="529463"/>
                </a:lnTo>
                <a:lnTo>
                  <a:pt x="1056893" y="481330"/>
                </a:lnTo>
                <a:lnTo>
                  <a:pt x="1050543" y="434340"/>
                </a:lnTo>
                <a:lnTo>
                  <a:pt x="1040129" y="388747"/>
                </a:lnTo>
                <a:lnTo>
                  <a:pt x="1025905" y="344678"/>
                </a:lnTo>
                <a:lnTo>
                  <a:pt x="1007998" y="302513"/>
                </a:lnTo>
                <a:lnTo>
                  <a:pt x="986789" y="262255"/>
                </a:lnTo>
                <a:lnTo>
                  <a:pt x="962151" y="224155"/>
                </a:lnTo>
                <a:lnTo>
                  <a:pt x="934465" y="188341"/>
                </a:lnTo>
                <a:lnTo>
                  <a:pt x="903985" y="155067"/>
                </a:lnTo>
                <a:lnTo>
                  <a:pt x="870711" y="124587"/>
                </a:lnTo>
                <a:lnTo>
                  <a:pt x="834897" y="96900"/>
                </a:lnTo>
                <a:lnTo>
                  <a:pt x="796797" y="72262"/>
                </a:lnTo>
                <a:lnTo>
                  <a:pt x="756538" y="50926"/>
                </a:lnTo>
                <a:lnTo>
                  <a:pt x="714247" y="33147"/>
                </a:lnTo>
                <a:lnTo>
                  <a:pt x="670305" y="18923"/>
                </a:lnTo>
                <a:lnTo>
                  <a:pt x="624712" y="8509"/>
                </a:lnTo>
                <a:lnTo>
                  <a:pt x="577722" y="2159"/>
                </a:lnTo>
                <a:lnTo>
                  <a:pt x="529462" y="0"/>
                </a:lnTo>
                <a:close/>
              </a:path>
            </a:pathLst>
          </a:custGeom>
          <a:solidFill>
            <a:srgbClr val="00EAFF"/>
          </a:solidFill>
        </p:spPr>
        <p:txBody>
          <a:bodyPr wrap="square" lIns="0" tIns="0" rIns="0" bIns="0" rtlCol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4" name="object 23">
            <a:extLst>
              <a:ext uri="{FF2B5EF4-FFF2-40B4-BE49-F238E27FC236}">
                <a16:creationId xmlns:a16="http://schemas.microsoft.com/office/drawing/2014/main" id="{0634D47D-8929-F0DD-FFBE-7D2D9C779E0C}"/>
              </a:ext>
            </a:extLst>
          </p:cNvPr>
          <p:cNvSpPr txBox="1"/>
          <p:nvPr/>
        </p:nvSpPr>
        <p:spPr>
          <a:xfrm>
            <a:off x="8876768" y="3789900"/>
            <a:ext cx="1034537" cy="686085"/>
          </a:xfrm>
          <a:prstGeom prst="rect">
            <a:avLst/>
          </a:prstGeom>
        </p:spPr>
        <p:txBody>
          <a:bodyPr vert="horz" wrap="square" lIns="0" tIns="2667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" algn="ctr">
              <a:spcBef>
                <a:spcPts val="110"/>
              </a:spcBef>
            </a:pPr>
            <a:r>
              <a:rPr sz="1400" b="1" dirty="0">
                <a:latin typeface="+mn-lt"/>
                <a:cs typeface="Arial"/>
              </a:rPr>
              <a:t>BLOC</a:t>
            </a:r>
            <a:r>
              <a:rPr sz="1400" b="1" spc="-35" dirty="0">
                <a:latin typeface="+mn-lt"/>
                <a:cs typeface="Arial"/>
              </a:rPr>
              <a:t> </a:t>
            </a:r>
            <a:r>
              <a:rPr lang="fr-FR" sz="1400" b="1" spc="-50" dirty="0">
                <a:latin typeface="+mn-lt"/>
                <a:cs typeface="Arial"/>
              </a:rPr>
              <a:t>05</a:t>
            </a:r>
            <a:r>
              <a:rPr lang="fr-FR" sz="1400" b="1" spc="-50" dirty="0">
                <a:cs typeface="Arial"/>
              </a:rPr>
              <a:t> </a:t>
            </a:r>
            <a:r>
              <a:rPr lang="fr-FR" sz="1400" b="1" spc="-50" dirty="0">
                <a:latin typeface="+mn-lt"/>
                <a:cs typeface="Arial"/>
              </a:rPr>
              <a:t>: ORAL </a:t>
            </a:r>
            <a:r>
              <a:rPr lang="fr-FR" sz="1400" b="1" spc="-50" dirty="0">
                <a:cs typeface="Arial"/>
              </a:rPr>
              <a:t>45'’</a:t>
            </a:r>
            <a:endParaRPr lang="fr-FR" sz="1400" b="1" spc="-50" dirty="0">
              <a:latin typeface="+mn-lt"/>
              <a:cs typeface="Arial"/>
            </a:endParaRPr>
          </a:p>
          <a:p>
            <a:pPr marL="635" algn="ctr">
              <a:spcBef>
                <a:spcPts val="110"/>
              </a:spcBef>
            </a:pPr>
            <a:endParaRPr sz="1400" b="1" dirty="0">
              <a:latin typeface="+mn-lt"/>
              <a:cs typeface="Arial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04A9FC22-A869-BCF8-6FBC-2A10114A7F95}"/>
              </a:ext>
            </a:extLst>
          </p:cNvPr>
          <p:cNvCxnSpPr/>
          <p:nvPr/>
        </p:nvCxnSpPr>
        <p:spPr>
          <a:xfrm>
            <a:off x="9394037" y="3429695"/>
            <a:ext cx="0" cy="1524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object 22">
            <a:extLst>
              <a:ext uri="{FF2B5EF4-FFF2-40B4-BE49-F238E27FC236}">
                <a16:creationId xmlns:a16="http://schemas.microsoft.com/office/drawing/2014/main" id="{32B87804-F722-C067-B9EC-E20DB3549B40}"/>
              </a:ext>
            </a:extLst>
          </p:cNvPr>
          <p:cNvSpPr/>
          <p:nvPr/>
        </p:nvSpPr>
        <p:spPr>
          <a:xfrm>
            <a:off x="8659198" y="1783131"/>
            <a:ext cx="1469675" cy="1389758"/>
          </a:xfrm>
          <a:custGeom>
            <a:avLst/>
            <a:gdLst/>
            <a:ahLst/>
            <a:cxnLst/>
            <a:rect l="l" t="t" r="r" b="b"/>
            <a:pathLst>
              <a:path w="1059179" h="1059179">
                <a:moveTo>
                  <a:pt x="529462" y="0"/>
                </a:moveTo>
                <a:lnTo>
                  <a:pt x="481329" y="2159"/>
                </a:lnTo>
                <a:lnTo>
                  <a:pt x="434339" y="8509"/>
                </a:lnTo>
                <a:lnTo>
                  <a:pt x="388746" y="18923"/>
                </a:lnTo>
                <a:lnTo>
                  <a:pt x="344677" y="33147"/>
                </a:lnTo>
                <a:lnTo>
                  <a:pt x="302513" y="50926"/>
                </a:lnTo>
                <a:lnTo>
                  <a:pt x="262254" y="72262"/>
                </a:lnTo>
                <a:lnTo>
                  <a:pt x="224154" y="96900"/>
                </a:lnTo>
                <a:lnTo>
                  <a:pt x="188340" y="124587"/>
                </a:lnTo>
                <a:lnTo>
                  <a:pt x="155066" y="155067"/>
                </a:lnTo>
                <a:lnTo>
                  <a:pt x="124586" y="188341"/>
                </a:lnTo>
                <a:lnTo>
                  <a:pt x="96900" y="224155"/>
                </a:lnTo>
                <a:lnTo>
                  <a:pt x="72262" y="262255"/>
                </a:lnTo>
                <a:lnTo>
                  <a:pt x="50926" y="302513"/>
                </a:lnTo>
                <a:lnTo>
                  <a:pt x="33146" y="344678"/>
                </a:lnTo>
                <a:lnTo>
                  <a:pt x="18922" y="388747"/>
                </a:lnTo>
                <a:lnTo>
                  <a:pt x="8508" y="434340"/>
                </a:lnTo>
                <a:lnTo>
                  <a:pt x="2158" y="481330"/>
                </a:lnTo>
                <a:lnTo>
                  <a:pt x="0" y="529463"/>
                </a:lnTo>
                <a:lnTo>
                  <a:pt x="2158" y="577723"/>
                </a:lnTo>
                <a:lnTo>
                  <a:pt x="8508" y="624713"/>
                </a:lnTo>
                <a:lnTo>
                  <a:pt x="18922" y="670306"/>
                </a:lnTo>
                <a:lnTo>
                  <a:pt x="33146" y="714248"/>
                </a:lnTo>
                <a:lnTo>
                  <a:pt x="50926" y="756412"/>
                </a:lnTo>
                <a:lnTo>
                  <a:pt x="72262" y="796798"/>
                </a:lnTo>
                <a:lnTo>
                  <a:pt x="96900" y="834898"/>
                </a:lnTo>
                <a:lnTo>
                  <a:pt x="124586" y="870585"/>
                </a:lnTo>
                <a:lnTo>
                  <a:pt x="155066" y="903859"/>
                </a:lnTo>
                <a:lnTo>
                  <a:pt x="188340" y="934466"/>
                </a:lnTo>
                <a:lnTo>
                  <a:pt x="224154" y="962152"/>
                </a:lnTo>
                <a:lnTo>
                  <a:pt x="262254" y="986663"/>
                </a:lnTo>
                <a:lnTo>
                  <a:pt x="302513" y="1008024"/>
                </a:lnTo>
                <a:lnTo>
                  <a:pt x="344677" y="1025880"/>
                </a:lnTo>
                <a:lnTo>
                  <a:pt x="388746" y="1040091"/>
                </a:lnTo>
                <a:lnTo>
                  <a:pt x="434339" y="1050467"/>
                </a:lnTo>
                <a:lnTo>
                  <a:pt x="481329" y="1056843"/>
                </a:lnTo>
                <a:lnTo>
                  <a:pt x="529462" y="1059002"/>
                </a:lnTo>
                <a:lnTo>
                  <a:pt x="577722" y="1056843"/>
                </a:lnTo>
                <a:lnTo>
                  <a:pt x="624712" y="1050467"/>
                </a:lnTo>
                <a:lnTo>
                  <a:pt x="670305" y="1040091"/>
                </a:lnTo>
                <a:lnTo>
                  <a:pt x="714247" y="1025880"/>
                </a:lnTo>
                <a:lnTo>
                  <a:pt x="756538" y="1008024"/>
                </a:lnTo>
                <a:lnTo>
                  <a:pt x="796797" y="986663"/>
                </a:lnTo>
                <a:lnTo>
                  <a:pt x="834897" y="962152"/>
                </a:lnTo>
                <a:lnTo>
                  <a:pt x="870711" y="934466"/>
                </a:lnTo>
                <a:lnTo>
                  <a:pt x="903985" y="903859"/>
                </a:lnTo>
                <a:lnTo>
                  <a:pt x="934465" y="870585"/>
                </a:lnTo>
                <a:lnTo>
                  <a:pt x="962151" y="834898"/>
                </a:lnTo>
                <a:lnTo>
                  <a:pt x="986789" y="796798"/>
                </a:lnTo>
                <a:lnTo>
                  <a:pt x="1007998" y="756412"/>
                </a:lnTo>
                <a:lnTo>
                  <a:pt x="1025905" y="714248"/>
                </a:lnTo>
                <a:lnTo>
                  <a:pt x="1040129" y="670306"/>
                </a:lnTo>
                <a:lnTo>
                  <a:pt x="1050543" y="624713"/>
                </a:lnTo>
                <a:lnTo>
                  <a:pt x="1056893" y="577723"/>
                </a:lnTo>
                <a:lnTo>
                  <a:pt x="1059052" y="529463"/>
                </a:lnTo>
                <a:lnTo>
                  <a:pt x="1056893" y="481330"/>
                </a:lnTo>
                <a:lnTo>
                  <a:pt x="1050543" y="434340"/>
                </a:lnTo>
                <a:lnTo>
                  <a:pt x="1040129" y="388747"/>
                </a:lnTo>
                <a:lnTo>
                  <a:pt x="1025905" y="344678"/>
                </a:lnTo>
                <a:lnTo>
                  <a:pt x="1007998" y="302513"/>
                </a:lnTo>
                <a:lnTo>
                  <a:pt x="986789" y="262255"/>
                </a:lnTo>
                <a:lnTo>
                  <a:pt x="962151" y="224155"/>
                </a:lnTo>
                <a:lnTo>
                  <a:pt x="934465" y="188341"/>
                </a:lnTo>
                <a:lnTo>
                  <a:pt x="903985" y="155067"/>
                </a:lnTo>
                <a:lnTo>
                  <a:pt x="870711" y="124587"/>
                </a:lnTo>
                <a:lnTo>
                  <a:pt x="834897" y="96900"/>
                </a:lnTo>
                <a:lnTo>
                  <a:pt x="796797" y="72262"/>
                </a:lnTo>
                <a:lnTo>
                  <a:pt x="756538" y="50926"/>
                </a:lnTo>
                <a:lnTo>
                  <a:pt x="714247" y="33147"/>
                </a:lnTo>
                <a:lnTo>
                  <a:pt x="670305" y="18923"/>
                </a:lnTo>
                <a:lnTo>
                  <a:pt x="624712" y="8509"/>
                </a:lnTo>
                <a:lnTo>
                  <a:pt x="577722" y="2159"/>
                </a:lnTo>
                <a:lnTo>
                  <a:pt x="529462" y="0"/>
                </a:lnTo>
                <a:close/>
              </a:path>
            </a:pathLst>
          </a:custGeom>
          <a:solidFill>
            <a:srgbClr val="00EAFF"/>
          </a:solidFill>
        </p:spPr>
        <p:txBody>
          <a:bodyPr wrap="square" lIns="0" tIns="0" rIns="0" bIns="0" rtlCol="0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7" name="ZoneTexte 15">
            <a:extLst>
              <a:ext uri="{FF2B5EF4-FFF2-40B4-BE49-F238E27FC236}">
                <a16:creationId xmlns:a16="http://schemas.microsoft.com/office/drawing/2014/main" id="{BFCE3DA4-22E6-9D0F-8227-BFAF2107C41E}"/>
              </a:ext>
            </a:extLst>
          </p:cNvPr>
          <p:cNvSpPr txBox="1"/>
          <p:nvPr/>
        </p:nvSpPr>
        <p:spPr>
          <a:xfrm>
            <a:off x="3472180" y="2171420"/>
            <a:ext cx="140348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600" b="1" dirty="0">
                <a:latin typeface="+mj-lt"/>
              </a:rPr>
              <a:t>13-17/07/26</a:t>
            </a:r>
          </a:p>
          <a:p>
            <a:pPr algn="ctr"/>
            <a:r>
              <a:rPr lang="fr-FR" sz="1400" dirty="0">
                <a:latin typeface="+mj-lt"/>
                <a:ea typeface="Calibri Light"/>
                <a:cs typeface="Calibri Light"/>
              </a:rPr>
              <a:t>S29</a:t>
            </a:r>
            <a:endParaRPr lang="fr-FR" sz="1400" dirty="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58" name="ZoneTexte 15">
            <a:extLst>
              <a:ext uri="{FF2B5EF4-FFF2-40B4-BE49-F238E27FC236}">
                <a16:creationId xmlns:a16="http://schemas.microsoft.com/office/drawing/2014/main" id="{9114D065-4C9B-4A24-7ABA-901CBEEE9FDC}"/>
              </a:ext>
            </a:extLst>
          </p:cNvPr>
          <p:cNvSpPr txBox="1"/>
          <p:nvPr/>
        </p:nvSpPr>
        <p:spPr>
          <a:xfrm>
            <a:off x="5265634" y="2176302"/>
            <a:ext cx="140348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600" b="1" dirty="0">
                <a:latin typeface="+mj-lt"/>
              </a:rPr>
              <a:t>27-31/07/26</a:t>
            </a:r>
          </a:p>
          <a:p>
            <a:pPr algn="ctr"/>
            <a:r>
              <a:rPr lang="fr-FR" sz="1400" dirty="0">
                <a:latin typeface="+mj-lt"/>
              </a:rPr>
              <a:t>S31</a:t>
            </a:r>
            <a:endParaRPr lang="fr-FR" sz="1200" dirty="0">
              <a:latin typeface="+mj-lt"/>
            </a:endParaRPr>
          </a:p>
        </p:txBody>
      </p:sp>
      <p:sp>
        <p:nvSpPr>
          <p:cNvPr id="59" name="ZoneTexte 15">
            <a:extLst>
              <a:ext uri="{FF2B5EF4-FFF2-40B4-BE49-F238E27FC236}">
                <a16:creationId xmlns:a16="http://schemas.microsoft.com/office/drawing/2014/main" id="{1B526BE8-8AC7-1B17-9F47-B2573593D881}"/>
              </a:ext>
            </a:extLst>
          </p:cNvPr>
          <p:cNvSpPr txBox="1"/>
          <p:nvPr/>
        </p:nvSpPr>
        <p:spPr>
          <a:xfrm>
            <a:off x="6950269" y="2171420"/>
            <a:ext cx="140348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600" b="1" dirty="0">
                <a:latin typeface="+mj-lt"/>
              </a:rPr>
              <a:t>17-21/08/26</a:t>
            </a:r>
          </a:p>
          <a:p>
            <a:pPr algn="ctr"/>
            <a:r>
              <a:rPr lang="fr-FR" sz="1400" dirty="0">
                <a:latin typeface="+mj-lt"/>
              </a:rPr>
              <a:t>S34</a:t>
            </a:r>
            <a:endParaRPr lang="fr-FR" sz="1200" dirty="0">
              <a:latin typeface="+mj-lt"/>
            </a:endParaRPr>
          </a:p>
        </p:txBody>
      </p:sp>
      <p:sp>
        <p:nvSpPr>
          <p:cNvPr id="60" name="ZoneTexte 15">
            <a:extLst>
              <a:ext uri="{FF2B5EF4-FFF2-40B4-BE49-F238E27FC236}">
                <a16:creationId xmlns:a16="http://schemas.microsoft.com/office/drawing/2014/main" id="{6081AA23-B5EF-18EB-3664-901E5E5201BE}"/>
              </a:ext>
            </a:extLst>
          </p:cNvPr>
          <p:cNvSpPr txBox="1"/>
          <p:nvPr/>
        </p:nvSpPr>
        <p:spPr>
          <a:xfrm>
            <a:off x="8736175" y="2171420"/>
            <a:ext cx="1403486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600" b="1" dirty="0">
                <a:latin typeface="+mj-lt"/>
              </a:rPr>
              <a:t>01-29/09/26</a:t>
            </a:r>
          </a:p>
          <a:p>
            <a:pPr algn="ctr"/>
            <a:r>
              <a:rPr lang="fr-FR" sz="1400" dirty="0">
                <a:latin typeface="+mj-lt"/>
              </a:rPr>
              <a:t>S36 à S40</a:t>
            </a:r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354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A2E5F3-149D-337A-B0BE-996DC55E617D}"/>
              </a:ext>
            </a:extLst>
          </p:cNvPr>
          <p:cNvSpPr/>
          <p:nvPr/>
        </p:nvSpPr>
        <p:spPr>
          <a:xfrm>
            <a:off x="685800" y="2385012"/>
            <a:ext cx="4825338" cy="19249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u="sng">
                <a:solidFill>
                  <a:schemeClr val="bg1"/>
                </a:solidFill>
              </a:rPr>
              <a:t>Les Jurys d’évaluation</a:t>
            </a:r>
          </a:p>
          <a:p>
            <a:pPr algn="ctr"/>
            <a:endParaRPr lang="fr-FR" sz="2000" b="1" u="sng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chemeClr val="bg1"/>
                </a:solidFill>
              </a:rPr>
              <a:t>Evalue les compétences au travers des épreuves certificatives, bloc à bloc.</a:t>
            </a:r>
          </a:p>
          <a:p>
            <a:pPr algn="ctr"/>
            <a:endParaRPr lang="fr-FR" i="1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rgbClr val="7EFA4C"/>
                </a:solidFill>
              </a:rPr>
              <a:t>Sa décision est souveraine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C1BE19-E166-7109-C621-82DA3EE183C4}"/>
              </a:ext>
            </a:extLst>
          </p:cNvPr>
          <p:cNvSpPr/>
          <p:nvPr/>
        </p:nvSpPr>
        <p:spPr>
          <a:xfrm>
            <a:off x="6896253" y="2537412"/>
            <a:ext cx="4825338" cy="19249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 b="1" u="sng">
              <a:solidFill>
                <a:schemeClr val="bg1"/>
              </a:solidFill>
            </a:endParaRPr>
          </a:p>
          <a:p>
            <a:pPr algn="ctr"/>
            <a:r>
              <a:rPr lang="fr-FR" sz="2000" b="1" u="sng">
                <a:solidFill>
                  <a:schemeClr val="bg1"/>
                </a:solidFill>
              </a:rPr>
              <a:t>Le Jury de certification</a:t>
            </a:r>
          </a:p>
          <a:p>
            <a:pPr algn="ctr"/>
            <a:endParaRPr lang="fr-FR" sz="2000" b="1" u="sng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chemeClr val="bg1"/>
                </a:solidFill>
              </a:rPr>
              <a:t>Décide de la validation de la certification.</a:t>
            </a:r>
          </a:p>
          <a:p>
            <a:pPr algn="ctr"/>
            <a:endParaRPr lang="fr-FR" i="1">
              <a:solidFill>
                <a:schemeClr val="bg1"/>
              </a:solidFill>
            </a:endParaRPr>
          </a:p>
          <a:p>
            <a:pPr algn="ctr"/>
            <a:endParaRPr lang="fr-FR" i="1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rgbClr val="00EAFF"/>
                </a:solidFill>
              </a:rPr>
              <a:t>Sa décision est souveraine.</a:t>
            </a:r>
          </a:p>
          <a:p>
            <a:pPr algn="ctr"/>
            <a:endParaRPr lang="fr-FR" i="1">
              <a:solidFill>
                <a:schemeClr val="bg1"/>
              </a:solidFill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E9323D34-E090-E126-D82E-1E3940CE3B6A}"/>
              </a:ext>
            </a:extLst>
          </p:cNvPr>
          <p:cNvSpPr/>
          <p:nvPr/>
        </p:nvSpPr>
        <p:spPr>
          <a:xfrm>
            <a:off x="6165180" y="3243004"/>
            <a:ext cx="421768" cy="513716"/>
          </a:xfrm>
          <a:prstGeom prst="rightArrow">
            <a:avLst/>
          </a:prstGeom>
          <a:solidFill>
            <a:srgbClr val="00EAFF"/>
          </a:solidFill>
          <a:ln>
            <a:solidFill>
              <a:srgbClr val="00E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29B10B-46CF-6B86-B827-B664F769B36D}"/>
              </a:ext>
            </a:extLst>
          </p:cNvPr>
          <p:cNvSpPr txBox="1"/>
          <p:nvPr/>
        </p:nvSpPr>
        <p:spPr>
          <a:xfrm>
            <a:off x="820117" y="5275298"/>
            <a:ext cx="104446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>
                <a:solidFill>
                  <a:schemeClr val="tx1"/>
                </a:solidFill>
              </a:rPr>
              <a:t>L’organisation et le déroulement de ces jurys sont encadrés par le règlement général de certification</a:t>
            </a:r>
            <a:endParaRPr lang="fr-FR" sz="1800" b="1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4104A9-6911-F994-9C3D-EDA3E71028A2}"/>
              </a:ext>
            </a:extLst>
          </p:cNvPr>
          <p:cNvSpPr/>
          <p:nvPr/>
        </p:nvSpPr>
        <p:spPr>
          <a:xfrm>
            <a:off x="838200" y="2537412"/>
            <a:ext cx="4825338" cy="19249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u="sng">
                <a:solidFill>
                  <a:schemeClr val="bg1"/>
                </a:solidFill>
              </a:rPr>
              <a:t>Les Jurys d’évaluation</a:t>
            </a:r>
          </a:p>
          <a:p>
            <a:pPr algn="ctr"/>
            <a:endParaRPr lang="fr-FR" sz="2000" b="1" u="sng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chemeClr val="bg1"/>
                </a:solidFill>
              </a:rPr>
              <a:t>Evalue les compétences au travers des épreuves certificatives, bloc à bloc.</a:t>
            </a:r>
          </a:p>
          <a:p>
            <a:pPr algn="ctr"/>
            <a:endParaRPr lang="fr-FR" i="1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rgbClr val="7EFA4C"/>
                </a:solidFill>
              </a:rPr>
              <a:t>Sa décision est souveraine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FF498-EE2B-B000-D5B7-2346BEFDE822}"/>
              </a:ext>
            </a:extLst>
          </p:cNvPr>
          <p:cNvSpPr/>
          <p:nvPr/>
        </p:nvSpPr>
        <p:spPr>
          <a:xfrm>
            <a:off x="990600" y="2689812"/>
            <a:ext cx="4825338" cy="19249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u="sng">
                <a:solidFill>
                  <a:schemeClr val="bg1"/>
                </a:solidFill>
              </a:rPr>
              <a:t>Les Jurys d’évaluation</a:t>
            </a:r>
          </a:p>
          <a:p>
            <a:pPr algn="ctr"/>
            <a:endParaRPr lang="fr-FR" sz="2000" b="1" u="sng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chemeClr val="bg1"/>
                </a:solidFill>
              </a:rPr>
              <a:t>Evalue les compétences au travers des épreuves certificatives, bloc à bloc.</a:t>
            </a:r>
          </a:p>
          <a:p>
            <a:pPr algn="ctr"/>
            <a:endParaRPr lang="fr-FR" i="1">
              <a:solidFill>
                <a:schemeClr val="bg1"/>
              </a:solidFill>
            </a:endParaRPr>
          </a:p>
          <a:p>
            <a:pPr algn="ctr"/>
            <a:r>
              <a:rPr lang="fr-FR" i="1">
                <a:solidFill>
                  <a:srgbClr val="00EAFF"/>
                </a:solidFill>
              </a:rPr>
              <a:t>Leur décision est souveraine.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429F2849-7B5F-FD5B-DC9F-88F725F1E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7130" y="505119"/>
            <a:ext cx="85528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130" algn="l"/>
                <a:tab pos="3221990" algn="l"/>
              </a:tabLst>
            </a:pPr>
            <a:r>
              <a:rPr lang="fr-FR" spc="-20">
                <a:latin typeface="Montserrat" panose="00000500000000000000" pitchFamily="2" charset="0"/>
              </a:rPr>
              <a:t>Les jurys d’évaluation et de certification</a:t>
            </a:r>
            <a:endParaRPr spc="-20"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981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F011D7C3-37D5-908B-0B45-399F5E3388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19225" y="259899"/>
            <a:ext cx="85528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3130" algn="l"/>
                <a:tab pos="3221990" algn="l"/>
              </a:tabLst>
            </a:pPr>
            <a:r>
              <a:rPr lang="fr-FR" spc="-20">
                <a:latin typeface="Montserrat" panose="00000500000000000000" pitchFamily="2" charset="0"/>
              </a:rPr>
              <a:t>Les grands principes d’évaluation</a:t>
            </a:r>
            <a:endParaRPr spc="-20">
              <a:latin typeface="Montserrat" panose="00000500000000000000" pitchFamily="2" charset="0"/>
            </a:endParaRPr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3F29FFC4-BD55-23FF-B1C4-3ED1BF92EF6C}"/>
              </a:ext>
            </a:extLst>
          </p:cNvPr>
          <p:cNvSpPr/>
          <p:nvPr/>
        </p:nvSpPr>
        <p:spPr>
          <a:xfrm>
            <a:off x="379710" y="1693132"/>
            <a:ext cx="969644" cy="4556311"/>
          </a:xfrm>
          <a:prstGeom prst="downArrow">
            <a:avLst/>
          </a:prstGeom>
          <a:solidFill>
            <a:schemeClr val="tx1"/>
          </a:solidFill>
          <a:ln>
            <a:solidFill>
              <a:srgbClr val="00EA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2CF8194-1E87-9528-4747-7AF143DA004B}"/>
              </a:ext>
            </a:extLst>
          </p:cNvPr>
          <p:cNvSpPr txBox="1"/>
          <p:nvPr/>
        </p:nvSpPr>
        <p:spPr>
          <a:xfrm>
            <a:off x="1226438" y="4081687"/>
            <a:ext cx="8618570" cy="646331"/>
          </a:xfrm>
          <a:prstGeom prst="rect">
            <a:avLst/>
          </a:prstGeom>
          <a:solidFill>
            <a:srgbClr val="00EAFF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fr-FR">
                <a:solidFill>
                  <a:schemeClr val="tx1"/>
                </a:solidFill>
                <a:latin typeface="+mj-lt"/>
              </a:rPr>
              <a:t>La certification s’obtient par la </a:t>
            </a:r>
            <a:r>
              <a:rPr lang="fr-FR" b="1">
                <a:solidFill>
                  <a:schemeClr val="tx1"/>
                </a:solidFill>
                <a:latin typeface="+mj-lt"/>
              </a:rPr>
              <a:t>validation de </a:t>
            </a:r>
            <a:r>
              <a:rPr lang="fr-FR" b="1" u="sng">
                <a:solidFill>
                  <a:schemeClr val="tx1"/>
                </a:solidFill>
                <a:latin typeface="+mj-lt"/>
              </a:rPr>
              <a:t>tous les blocs </a:t>
            </a:r>
            <a:r>
              <a:rPr lang="fr-FR" b="1">
                <a:solidFill>
                  <a:schemeClr val="tx1"/>
                </a:solidFill>
                <a:latin typeface="+mj-lt"/>
              </a:rPr>
              <a:t>de compétences de votre spécialité</a:t>
            </a:r>
            <a:endParaRPr lang="fr-FR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659BB48-C7EC-E8DB-9E89-E914232F4BCF}"/>
              </a:ext>
            </a:extLst>
          </p:cNvPr>
          <p:cNvSpPr txBox="1"/>
          <p:nvPr/>
        </p:nvSpPr>
        <p:spPr>
          <a:xfrm>
            <a:off x="1226438" y="2938582"/>
            <a:ext cx="8618571" cy="923330"/>
          </a:xfrm>
          <a:prstGeom prst="rect">
            <a:avLst/>
          </a:prstGeom>
          <a:solidFill>
            <a:srgbClr val="C5FB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>
              <a:defRPr sz="1400">
                <a:solidFill>
                  <a:schemeClr val="dk1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fr-FR" sz="1800">
                <a:latin typeface="+mj-lt"/>
              </a:rPr>
              <a:t>Un bloc de compétences est validé si :</a:t>
            </a:r>
          </a:p>
          <a:p>
            <a:pPr marL="427500" indent="-285750" algn="ctr">
              <a:buFont typeface="Wingdings" panose="05000000000000000000" pitchFamily="2" charset="2"/>
              <a:buChar char="ü"/>
            </a:pPr>
            <a:r>
              <a:rPr lang="fr-FR" sz="1800">
                <a:latin typeface="+mj-lt"/>
              </a:rPr>
              <a:t>Au moins 50% des compétences sont « acquises »</a:t>
            </a:r>
          </a:p>
          <a:p>
            <a:pPr marL="427500" indent="-285750" algn="ctr">
              <a:buFont typeface="Wingdings" panose="05000000000000000000" pitchFamily="2" charset="2"/>
              <a:buChar char="ü"/>
            </a:pPr>
            <a:r>
              <a:rPr lang="fr-FR" sz="1800">
                <a:latin typeface="+mj-lt"/>
              </a:rPr>
              <a:t>Aucune compétence éliminatoire est « non acquise »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CFFF195-2609-A84A-1D71-FC276FB4859B}"/>
              </a:ext>
            </a:extLst>
          </p:cNvPr>
          <p:cNvSpPr txBox="1"/>
          <p:nvPr/>
        </p:nvSpPr>
        <p:spPr>
          <a:xfrm>
            <a:off x="1226439" y="1760367"/>
            <a:ext cx="861857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>
              <a:defRPr sz="1400">
                <a:solidFill>
                  <a:schemeClr val="dk1"/>
                </a:solidFill>
                <a:latin typeface="Aptos" panose="020B00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ctr"/>
            <a:r>
              <a:rPr lang="fr-FR" sz="1800">
                <a:latin typeface="+mj-lt"/>
              </a:rPr>
              <a:t>Chaque bloc de compétences fait l’objet d’une </a:t>
            </a:r>
            <a:r>
              <a:rPr lang="fr-FR" sz="1800" b="1">
                <a:latin typeface="+mj-lt"/>
              </a:rPr>
              <a:t>évaluation indépendante </a:t>
            </a:r>
            <a:r>
              <a:rPr lang="fr-FR" sz="1800">
                <a:latin typeface="+mj-lt"/>
              </a:rPr>
              <a:t>avec des modalités et critères d’évaluation permettant d’évaluer </a:t>
            </a:r>
            <a:r>
              <a:rPr lang="fr-FR" sz="1800" b="1">
                <a:latin typeface="+mj-lt"/>
              </a:rPr>
              <a:t>individuellement</a:t>
            </a:r>
            <a:r>
              <a:rPr lang="fr-FR" sz="1800">
                <a:latin typeface="+mj-lt"/>
              </a:rPr>
              <a:t> la maîtrise des compétences le constituant.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046D9ED-9458-02F2-F7C2-3AA6485A1404}"/>
              </a:ext>
            </a:extLst>
          </p:cNvPr>
          <p:cNvSpPr txBox="1"/>
          <p:nvPr/>
        </p:nvSpPr>
        <p:spPr>
          <a:xfrm>
            <a:off x="1226438" y="4906119"/>
            <a:ext cx="8618570" cy="3693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>
                <a:latin typeface="+mj-lt"/>
              </a:rPr>
              <a:t>Accès au rattrapage : si moins de 50% des blocs sont invalidés.</a:t>
            </a:r>
          </a:p>
        </p:txBody>
      </p:sp>
      <p:grpSp>
        <p:nvGrpSpPr>
          <p:cNvPr id="13" name="object 2">
            <a:extLst>
              <a:ext uri="{FF2B5EF4-FFF2-40B4-BE49-F238E27FC236}">
                <a16:creationId xmlns:a16="http://schemas.microsoft.com/office/drawing/2014/main" id="{C73B84F8-7573-CD81-A74B-385E581A936B}"/>
              </a:ext>
            </a:extLst>
          </p:cNvPr>
          <p:cNvGrpSpPr/>
          <p:nvPr/>
        </p:nvGrpSpPr>
        <p:grpSpPr>
          <a:xfrm>
            <a:off x="8562078" y="-4"/>
            <a:ext cx="3613861" cy="6853145"/>
            <a:chOff x="7755255" y="-4"/>
            <a:chExt cx="4443095" cy="6864350"/>
          </a:xfrm>
        </p:grpSpPr>
        <p:pic>
          <p:nvPicPr>
            <p:cNvPr id="14" name="object 3">
              <a:extLst>
                <a:ext uri="{FF2B5EF4-FFF2-40B4-BE49-F238E27FC236}">
                  <a16:creationId xmlns:a16="http://schemas.microsoft.com/office/drawing/2014/main" id="{E765DEF6-4C7D-E9FA-7C96-309E3036A211}"/>
                </a:ext>
              </a:extLst>
            </p:cNvPr>
            <p:cNvPicPr/>
            <p:nvPr/>
          </p:nvPicPr>
          <p:blipFill>
            <a:blip r:embed="rId2" cstate="print">
              <a:alphaModFix amt="20000"/>
            </a:blip>
            <a:stretch>
              <a:fillRect/>
            </a:stretch>
          </p:blipFill>
          <p:spPr>
            <a:xfrm>
              <a:off x="11318748" y="4855461"/>
              <a:ext cx="873251" cy="2002535"/>
            </a:xfrm>
            <a:prstGeom prst="rect">
              <a:avLst/>
            </a:prstGeom>
          </p:spPr>
        </p:pic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39FDB351-E92A-7F1C-5B16-A04FA3A7E81E}"/>
                </a:ext>
              </a:extLst>
            </p:cNvPr>
            <p:cNvSpPr/>
            <p:nvPr/>
          </p:nvSpPr>
          <p:spPr>
            <a:xfrm>
              <a:off x="11419840" y="4941570"/>
              <a:ext cx="772160" cy="1890395"/>
            </a:xfrm>
            <a:custGeom>
              <a:avLst/>
              <a:gdLst/>
              <a:ahLst/>
              <a:cxnLst/>
              <a:rect l="l" t="t" r="r" b="b"/>
              <a:pathLst>
                <a:path w="772159" h="1890395">
                  <a:moveTo>
                    <a:pt x="772159" y="0"/>
                  </a:moveTo>
                  <a:lnTo>
                    <a:pt x="0" y="1889794"/>
                  </a:lnTo>
                  <a:lnTo>
                    <a:pt x="772159" y="1889794"/>
                  </a:lnTo>
                  <a:lnTo>
                    <a:pt x="7721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02534B85-37C7-4531-99FD-F6BD1A3EBB7E}"/>
                </a:ext>
              </a:extLst>
            </p:cNvPr>
            <p:cNvSpPr/>
            <p:nvPr/>
          </p:nvSpPr>
          <p:spPr>
            <a:xfrm>
              <a:off x="11419840" y="4941570"/>
              <a:ext cx="772160" cy="1890395"/>
            </a:xfrm>
            <a:custGeom>
              <a:avLst/>
              <a:gdLst/>
              <a:ahLst/>
              <a:cxnLst/>
              <a:rect l="l" t="t" r="r" b="b"/>
              <a:pathLst>
                <a:path w="772159" h="1890395">
                  <a:moveTo>
                    <a:pt x="0" y="1889794"/>
                  </a:moveTo>
                  <a:lnTo>
                    <a:pt x="772159" y="0"/>
                  </a:lnTo>
                  <a:lnTo>
                    <a:pt x="772159" y="1889794"/>
                  </a:lnTo>
                  <a:lnTo>
                    <a:pt x="0" y="1889794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75B00A25-289B-2793-ACB8-C3AB5A8A7CCE}"/>
                </a:ext>
              </a:extLst>
            </p:cNvPr>
            <p:cNvPicPr/>
            <p:nvPr/>
          </p:nvPicPr>
          <p:blipFill>
            <a:blip r:embed="rId3" cstate="print">
              <a:alphaModFix amt="20000"/>
            </a:blip>
            <a:stretch>
              <a:fillRect/>
            </a:stretch>
          </p:blipFill>
          <p:spPr>
            <a:xfrm>
              <a:off x="7755255" y="-4"/>
              <a:ext cx="4436745" cy="6857998"/>
            </a:xfrm>
            <a:prstGeom prst="rect">
              <a:avLst/>
            </a:prstGeom>
          </p:spPr>
        </p:pic>
        <p:pic>
          <p:nvPicPr>
            <p:cNvPr id="18" name="object 7">
              <a:extLst>
                <a:ext uri="{FF2B5EF4-FFF2-40B4-BE49-F238E27FC236}">
                  <a16:creationId xmlns:a16="http://schemas.microsoft.com/office/drawing/2014/main" id="{6AA68983-341B-BC08-6234-2585E50970F9}"/>
                </a:ext>
              </a:extLst>
            </p:cNvPr>
            <p:cNvPicPr/>
            <p:nvPr/>
          </p:nvPicPr>
          <p:blipFill>
            <a:blip r:embed="rId4" cstate="print">
              <a:alphaModFix amt="20000"/>
            </a:blip>
            <a:stretch>
              <a:fillRect/>
            </a:stretch>
          </p:blipFill>
          <p:spPr>
            <a:xfrm>
              <a:off x="11352276" y="4925564"/>
              <a:ext cx="839724" cy="1932432"/>
            </a:xfrm>
            <a:prstGeom prst="rect">
              <a:avLst/>
            </a:prstGeom>
          </p:spPr>
        </p:pic>
        <p:sp>
          <p:nvSpPr>
            <p:cNvPr id="19" name="object 8">
              <a:extLst>
                <a:ext uri="{FF2B5EF4-FFF2-40B4-BE49-F238E27FC236}">
                  <a16:creationId xmlns:a16="http://schemas.microsoft.com/office/drawing/2014/main" id="{71E92731-7571-739D-8842-B6AEF8A62C21}"/>
                </a:ext>
              </a:extLst>
            </p:cNvPr>
            <p:cNvSpPr/>
            <p:nvPr/>
          </p:nvSpPr>
          <p:spPr>
            <a:xfrm>
              <a:off x="11471402" y="5094478"/>
              <a:ext cx="720725" cy="1764030"/>
            </a:xfrm>
            <a:custGeom>
              <a:avLst/>
              <a:gdLst/>
              <a:ahLst/>
              <a:cxnLst/>
              <a:rect l="l" t="t" r="r" b="b"/>
              <a:pathLst>
                <a:path w="720725" h="1764029">
                  <a:moveTo>
                    <a:pt x="720598" y="0"/>
                  </a:moveTo>
                  <a:lnTo>
                    <a:pt x="0" y="1763521"/>
                  </a:lnTo>
                  <a:lnTo>
                    <a:pt x="720598" y="1763521"/>
                  </a:lnTo>
                  <a:lnTo>
                    <a:pt x="7205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9">
              <a:extLst>
                <a:ext uri="{FF2B5EF4-FFF2-40B4-BE49-F238E27FC236}">
                  <a16:creationId xmlns:a16="http://schemas.microsoft.com/office/drawing/2014/main" id="{CB84D002-12AA-6250-2E71-AEA9D1B24F38}"/>
                </a:ext>
              </a:extLst>
            </p:cNvPr>
            <p:cNvSpPr/>
            <p:nvPr/>
          </p:nvSpPr>
          <p:spPr>
            <a:xfrm>
              <a:off x="11471402" y="5094478"/>
              <a:ext cx="720725" cy="1764030"/>
            </a:xfrm>
            <a:custGeom>
              <a:avLst/>
              <a:gdLst/>
              <a:ahLst/>
              <a:cxnLst/>
              <a:rect l="l" t="t" r="r" b="b"/>
              <a:pathLst>
                <a:path w="720725" h="1764029">
                  <a:moveTo>
                    <a:pt x="0" y="1763521"/>
                  </a:moveTo>
                  <a:lnTo>
                    <a:pt x="720598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0624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11">
            <a:extLst>
              <a:ext uri="{FF2B5EF4-FFF2-40B4-BE49-F238E27FC236}">
                <a16:creationId xmlns:a16="http://schemas.microsoft.com/office/drawing/2014/main" id="{921FFB1B-C5AE-3A4F-6B45-022EDEA01D4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7"/>
          </a:xfrm>
          <a:prstGeom prst="rect">
            <a:avLst/>
          </a:prstGeom>
        </p:spPr>
      </p:pic>
      <p:sp>
        <p:nvSpPr>
          <p:cNvPr id="7" name="object 12">
            <a:extLst>
              <a:ext uri="{FF2B5EF4-FFF2-40B4-BE49-F238E27FC236}">
                <a16:creationId xmlns:a16="http://schemas.microsoft.com/office/drawing/2014/main" id="{E9545D7C-225D-97CB-57DD-C34E9D6A8992}"/>
              </a:ext>
            </a:extLst>
          </p:cNvPr>
          <p:cNvSpPr txBox="1"/>
          <p:nvPr/>
        </p:nvSpPr>
        <p:spPr>
          <a:xfrm>
            <a:off x="1108363" y="1518987"/>
            <a:ext cx="4862195" cy="2314222"/>
          </a:xfrm>
          <a:prstGeom prst="rect">
            <a:avLst/>
          </a:prstGeom>
          <a:solidFill>
            <a:srgbClr val="1D3443">
              <a:alpha val="76470"/>
            </a:srgbClr>
          </a:solidFill>
          <a:ln w="12700">
            <a:solidFill>
              <a:srgbClr val="040E17"/>
            </a:solidFill>
          </a:ln>
        </p:spPr>
        <p:txBody>
          <a:bodyPr vert="horz" wrap="square" lIns="0" tIns="2603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4"/>
              </a:spcBef>
            </a:pPr>
            <a:endParaRPr sz="2800">
              <a:latin typeface="Times New Roman"/>
              <a:cs typeface="Times New Roman"/>
            </a:endParaRPr>
          </a:p>
          <a:p>
            <a:pPr marL="856615" marR="848994" algn="ctr">
              <a:lnSpc>
                <a:spcPct val="150000"/>
              </a:lnSpc>
            </a:pPr>
            <a:r>
              <a:rPr sz="2800">
                <a:solidFill>
                  <a:srgbClr val="FFFFFF"/>
                </a:solidFill>
                <a:latin typeface="Century Gothic"/>
                <a:cs typeface="Century Gothic"/>
              </a:rPr>
              <a:t>Quelques</a:t>
            </a:r>
            <a:r>
              <a:rPr sz="2800" spc="65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2800" spc="-10">
                <a:solidFill>
                  <a:srgbClr val="FFFFFF"/>
                </a:solidFill>
                <a:latin typeface="Century Gothic"/>
                <a:cs typeface="Century Gothic"/>
              </a:rPr>
              <a:t>conseils </a:t>
            </a:r>
            <a:r>
              <a:rPr lang="fr-FR" sz="2800" spc="-10">
                <a:solidFill>
                  <a:srgbClr val="FFFFFF"/>
                </a:solidFill>
                <a:latin typeface="Century Gothic"/>
                <a:cs typeface="Century Gothic"/>
              </a:rPr>
              <a:t>importants</a:t>
            </a:r>
          </a:p>
          <a:p>
            <a:pPr marL="856615" marR="848994" algn="ctr">
              <a:lnSpc>
                <a:spcPct val="150000"/>
              </a:lnSpc>
            </a:pPr>
            <a:endParaRPr sz="2800">
              <a:latin typeface="Century Gothic"/>
              <a:cs typeface="Century Gothic"/>
            </a:endParaRPr>
          </a:p>
        </p:txBody>
      </p:sp>
      <p:sp>
        <p:nvSpPr>
          <p:cNvPr id="8" name="Triangle isocèle 7">
            <a:extLst>
              <a:ext uri="{FF2B5EF4-FFF2-40B4-BE49-F238E27FC236}">
                <a16:creationId xmlns:a16="http://schemas.microsoft.com/office/drawing/2014/main" id="{30D10CD0-8CDA-0BA9-7DEB-B169DDC2C675}"/>
              </a:ext>
            </a:extLst>
          </p:cNvPr>
          <p:cNvSpPr/>
          <p:nvPr/>
        </p:nvSpPr>
        <p:spPr>
          <a:xfrm rot="10800000">
            <a:off x="0" y="-7499"/>
            <a:ext cx="1454230" cy="2842351"/>
          </a:xfrm>
          <a:prstGeom prst="triangle">
            <a:avLst>
              <a:gd name="adj" fmla="val 100000"/>
            </a:avLst>
          </a:prstGeom>
          <a:solidFill>
            <a:srgbClr val="00EAFF"/>
          </a:solidFill>
          <a:ln>
            <a:solidFill>
              <a:srgbClr val="00EA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riangle isocèle 8">
            <a:extLst>
              <a:ext uri="{FF2B5EF4-FFF2-40B4-BE49-F238E27FC236}">
                <a16:creationId xmlns:a16="http://schemas.microsoft.com/office/drawing/2014/main" id="{1BD332CD-81ED-9A9A-7FE0-7217CD0978E2}"/>
              </a:ext>
            </a:extLst>
          </p:cNvPr>
          <p:cNvSpPr/>
          <p:nvPr/>
        </p:nvSpPr>
        <p:spPr>
          <a:xfrm rot="10800000" flipH="1" flipV="1">
            <a:off x="11419840" y="4969531"/>
            <a:ext cx="772160" cy="1889756"/>
          </a:xfrm>
          <a:prstGeom prst="triangle">
            <a:avLst>
              <a:gd name="adj" fmla="val 100000"/>
            </a:avLst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9" descr="Une image contenant Police, Graphique, noir, logo&#10;&#10;Description générée automatiquement">
            <a:extLst>
              <a:ext uri="{FF2B5EF4-FFF2-40B4-BE49-F238E27FC236}">
                <a16:creationId xmlns:a16="http://schemas.microsoft.com/office/drawing/2014/main" id="{DCED0B39-F494-A62D-15A2-3AE80E4313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9487" y="68826"/>
            <a:ext cx="1912513" cy="79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68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FD755-60D5-15F0-484F-9F1F8547F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BDB9BD4-65DA-4094-E84C-FFDD85F33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228" y="228624"/>
            <a:ext cx="10630992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>
                <a:latin typeface="Montserrat" panose="00000500000000000000" pitchFamily="2" charset="0"/>
              </a:rPr>
              <a:t>Les Conseils : la documentation de référence</a:t>
            </a:r>
            <a:endParaRPr>
              <a:latin typeface="Montserrat" panose="00000500000000000000" pitchFamily="2" charset="0"/>
              <a:cs typeface="Century Gothic"/>
            </a:endParaRP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C6E3CDA5-ACAE-6E02-2FFD-FFA5D9426D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283" y="4802073"/>
            <a:ext cx="1447800" cy="1651127"/>
          </a:xfrm>
          <a:prstGeom prst="rect">
            <a:avLst/>
          </a:prstGeom>
        </p:spPr>
      </p:pic>
      <p:sp>
        <p:nvSpPr>
          <p:cNvPr id="5" name="object 9">
            <a:extLst>
              <a:ext uri="{FF2B5EF4-FFF2-40B4-BE49-F238E27FC236}">
                <a16:creationId xmlns:a16="http://schemas.microsoft.com/office/drawing/2014/main" id="{881CA381-CE27-51E9-2CE1-C6AD65DD006D}"/>
              </a:ext>
            </a:extLst>
          </p:cNvPr>
          <p:cNvSpPr txBox="1"/>
          <p:nvPr/>
        </p:nvSpPr>
        <p:spPr>
          <a:xfrm>
            <a:off x="1121283" y="1501713"/>
            <a:ext cx="6339840" cy="321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>
                <a:latin typeface="Montserrat" panose="00000500000000000000" pitchFamily="2" charset="0"/>
                <a:cs typeface="Century Gothic"/>
              </a:rPr>
              <a:t>Je</a:t>
            </a:r>
            <a:r>
              <a:rPr sz="2000" spc="290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prends</a:t>
            </a:r>
            <a:r>
              <a:rPr sz="2000" spc="290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connaissance</a:t>
            </a:r>
            <a:r>
              <a:rPr sz="2000" spc="310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et</a:t>
            </a:r>
            <a:r>
              <a:rPr sz="2000" spc="270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m’approprie</a:t>
            </a:r>
            <a:r>
              <a:rPr sz="2000" spc="280">
                <a:latin typeface="Montserrat" panose="00000500000000000000" pitchFamily="2" charset="0"/>
                <a:cs typeface="Century Gothic"/>
              </a:rPr>
              <a:t> </a:t>
            </a:r>
            <a:r>
              <a:rPr sz="2000" spc="-50">
                <a:latin typeface="Montserrat" panose="00000500000000000000" pitchFamily="2" charset="0"/>
                <a:cs typeface="Century Gothic"/>
              </a:rPr>
              <a:t>:</a:t>
            </a:r>
            <a:endParaRPr sz="2000">
              <a:latin typeface="Montserrat" panose="00000500000000000000" pitchFamily="2" charset="0"/>
              <a:cs typeface="Century Gothic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000">
              <a:latin typeface="Montserrat" panose="00000500000000000000" pitchFamily="2" charset="0"/>
              <a:cs typeface="Century Gothic"/>
            </a:endParaRPr>
          </a:p>
          <a:p>
            <a:pPr marL="355600" indent="-342900"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Le</a:t>
            </a:r>
            <a:r>
              <a:rPr lang="fr-FR" spc="235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référentiel</a:t>
            </a:r>
            <a:r>
              <a:rPr lang="fr-FR" spc="204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du</a:t>
            </a:r>
            <a:r>
              <a:rPr lang="fr-FR" spc="240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titre</a:t>
            </a:r>
            <a:r>
              <a:rPr lang="fr-FR" spc="204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pc="-20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RNCP visé</a:t>
            </a:r>
            <a:endParaRPr lang="fr-FR">
              <a:latin typeface="Montserrat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endParaRPr lang="fr-FR" spc="310">
              <a:latin typeface="Montserrat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Le</a:t>
            </a:r>
            <a:r>
              <a:rPr lang="fr-FR" spc="235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règlement</a:t>
            </a:r>
            <a:r>
              <a:rPr lang="fr-FR" spc="210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général de certification</a:t>
            </a:r>
          </a:p>
          <a:p>
            <a:pPr marL="355600" indent="-342900">
              <a:spcBef>
                <a:spcPts val="1395"/>
              </a:spcBef>
              <a:buFont typeface="Wingdings"/>
              <a:buChar char=""/>
              <a:tabLst>
                <a:tab pos="355600" algn="l"/>
              </a:tabLst>
            </a:pPr>
            <a:r>
              <a:rPr lang="fr-FR">
                <a:latin typeface="Montserrat" panose="00000500000000000000" pitchFamily="2" charset="0"/>
                <a:cs typeface="Century Gothic"/>
              </a:rPr>
              <a:t>Le</a:t>
            </a:r>
            <a:r>
              <a:rPr lang="fr-FR" spc="295">
                <a:latin typeface="Montserrat" panose="00000500000000000000" pitchFamily="2" charset="0"/>
                <a:cs typeface="Century Gothic"/>
              </a:rPr>
              <a:t> </a:t>
            </a:r>
            <a:r>
              <a:rPr lang="fr-FR">
                <a:latin typeface="Montserrat" panose="00000500000000000000" pitchFamily="2" charset="0"/>
                <a:cs typeface="Century Gothic"/>
              </a:rPr>
              <a:t>règlement spécial de certification</a:t>
            </a:r>
          </a:p>
          <a:p>
            <a:pPr marL="355600" indent="-342900">
              <a:spcBef>
                <a:spcPts val="1395"/>
              </a:spcBef>
              <a:buFont typeface="Wingdings"/>
              <a:buChar char=""/>
              <a:tabLst>
                <a:tab pos="355600" algn="l"/>
              </a:tabLst>
            </a:pP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La</a:t>
            </a:r>
            <a:r>
              <a:rPr lang="fr-FR" spc="275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grille</a:t>
            </a:r>
            <a:r>
              <a:rPr lang="fr-FR" spc="229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d’évaluation</a:t>
            </a:r>
            <a:r>
              <a:rPr lang="fr-FR" spc="285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de</a:t>
            </a:r>
            <a:r>
              <a:rPr lang="fr-FR" spc="285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chaque</a:t>
            </a:r>
            <a:r>
              <a:rPr lang="fr-FR" spc="245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pc="-20">
                <a:latin typeface="Montserrat" panose="00000500000000000000" pitchFamily="2" charset="0"/>
                <a:ea typeface="Calibri" panose="020F0502020204030204" pitchFamily="34" charset="0"/>
                <a:cs typeface="Calibri" panose="020F0502020204030204" pitchFamily="34" charset="0"/>
              </a:rPr>
              <a:t>bloc</a:t>
            </a:r>
          </a:p>
          <a:p>
            <a:pPr marL="355600" indent="-342900">
              <a:lnSpc>
                <a:spcPct val="100000"/>
              </a:lnSpc>
              <a:spcBef>
                <a:spcPts val="1395"/>
              </a:spcBef>
              <a:buFont typeface="Wingdings"/>
              <a:buChar char=""/>
              <a:tabLst>
                <a:tab pos="355600" algn="l"/>
              </a:tabLst>
            </a:pPr>
            <a:endParaRPr lang="fr-FR">
              <a:latin typeface="Montserrat" panose="00000500000000000000" pitchFamily="2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5600" algn="l"/>
              </a:tabLst>
            </a:pPr>
            <a:endParaRPr sz="2000">
              <a:latin typeface="+mj-lt"/>
              <a:cs typeface="Century Gothic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80429EE-041D-7105-7E97-3CB13CF19113}"/>
              </a:ext>
            </a:extLst>
          </p:cNvPr>
          <p:cNvSpPr txBox="1"/>
          <p:nvPr/>
        </p:nvSpPr>
        <p:spPr>
          <a:xfrm>
            <a:off x="2582926" y="4802073"/>
            <a:ext cx="8305800" cy="1646605"/>
          </a:xfrm>
          <a:prstGeom prst="rect">
            <a:avLst/>
          </a:prstGeom>
          <a:solidFill>
            <a:srgbClr val="00EAFF"/>
          </a:solidFill>
          <a:ln>
            <a:solidFill>
              <a:srgbClr val="00EA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40"/>
              </a:spcBef>
            </a:pP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Pour</a:t>
            </a:r>
            <a:r>
              <a:rPr sz="2000" spc="-1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chaque</a:t>
            </a:r>
            <a:r>
              <a:rPr sz="2000" spc="-20">
                <a:solidFill>
                  <a:schemeClr val="tx1"/>
                </a:solidFill>
                <a:latin typeface="Century Gothic"/>
                <a:cs typeface="Century Gothic"/>
              </a:rPr>
              <a:t> bloc:</a:t>
            </a:r>
            <a:endParaRPr sz="20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347345" marR="336550" indent="7620" algn="ctr">
              <a:lnSpc>
                <a:spcPct val="100000"/>
              </a:lnSpc>
              <a:spcBef>
                <a:spcPts val="300"/>
              </a:spcBef>
            </a:pPr>
            <a:r>
              <a:rPr lang="fr-FR" sz="2000">
                <a:solidFill>
                  <a:schemeClr val="tx1"/>
                </a:solidFill>
                <a:latin typeface="Century Gothic"/>
                <a:cs typeface="Century Gothic"/>
              </a:rPr>
              <a:t>Je vérifie</a:t>
            </a:r>
            <a:r>
              <a:rPr sz="2000" spc="-3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point</a:t>
            </a:r>
            <a:r>
              <a:rPr sz="2000" spc="-1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par</a:t>
            </a:r>
            <a:r>
              <a:rPr sz="2000" spc="-1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point</a:t>
            </a:r>
            <a:r>
              <a:rPr sz="2000" spc="-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que</a:t>
            </a:r>
            <a:r>
              <a:rPr sz="2000" spc="-4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lang="fr-FR" sz="2000" spc="-40">
                <a:solidFill>
                  <a:schemeClr val="tx1"/>
                </a:solidFill>
                <a:latin typeface="Century Gothic"/>
                <a:cs typeface="Century Gothic"/>
              </a:rPr>
              <a:t>mes</a:t>
            </a:r>
            <a:r>
              <a:rPr sz="2000" spc="-1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livrables</a:t>
            </a:r>
            <a:r>
              <a:rPr sz="2000" spc="-5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lang="fr-FR" sz="2000">
                <a:solidFill>
                  <a:schemeClr val="tx1"/>
                </a:solidFill>
                <a:latin typeface="Century Gothic"/>
                <a:cs typeface="Century Gothic"/>
              </a:rPr>
              <a:t>et</a:t>
            </a:r>
            <a:r>
              <a:rPr sz="2000" spc="-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lang="fr-FR" sz="2000" spc="-5">
                <a:solidFill>
                  <a:schemeClr val="tx1"/>
                </a:solidFill>
                <a:latin typeface="Century Gothic"/>
                <a:cs typeface="Century Gothic"/>
              </a:rPr>
              <a:t>me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s</a:t>
            </a:r>
            <a:r>
              <a:rPr sz="2000" spc="-2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 spc="-10">
                <a:solidFill>
                  <a:schemeClr val="tx1"/>
                </a:solidFill>
                <a:latin typeface="Century Gothic"/>
                <a:cs typeface="Century Gothic"/>
              </a:rPr>
              <a:t>présentations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orales</a:t>
            </a:r>
            <a:r>
              <a:rPr sz="2000" spc="-3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cadrent</a:t>
            </a:r>
            <a:r>
              <a:rPr sz="2000" spc="-2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avec</a:t>
            </a:r>
            <a:r>
              <a:rPr sz="2000" spc="-3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l’attendu</a:t>
            </a:r>
            <a:r>
              <a:rPr sz="2000" spc="-6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et</a:t>
            </a:r>
            <a:r>
              <a:rPr sz="2000" spc="-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démontrent</a:t>
            </a:r>
            <a:r>
              <a:rPr sz="2000" spc="-45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>
                <a:solidFill>
                  <a:schemeClr val="tx1"/>
                </a:solidFill>
                <a:latin typeface="Century Gothic"/>
                <a:cs typeface="Century Gothic"/>
              </a:rPr>
              <a:t>l’acquisition</a:t>
            </a:r>
            <a:r>
              <a:rPr sz="2000" spc="-60">
                <a:solidFill>
                  <a:schemeClr val="tx1"/>
                </a:solidFill>
                <a:latin typeface="Century Gothic"/>
                <a:cs typeface="Century Gothic"/>
              </a:rPr>
              <a:t> </a:t>
            </a:r>
            <a:r>
              <a:rPr sz="2000" spc="-25">
                <a:solidFill>
                  <a:schemeClr val="tx1"/>
                </a:solidFill>
                <a:latin typeface="Century Gothic"/>
                <a:cs typeface="Century Gothic"/>
              </a:rPr>
              <a:t>des </a:t>
            </a:r>
            <a:r>
              <a:rPr sz="2000" spc="-10">
                <a:solidFill>
                  <a:schemeClr val="tx1"/>
                </a:solidFill>
                <a:latin typeface="Century Gothic"/>
                <a:cs typeface="Century Gothic"/>
              </a:rPr>
              <a:t>compétences</a:t>
            </a:r>
            <a:r>
              <a:rPr lang="fr-FR" sz="2000" spc="-10">
                <a:solidFill>
                  <a:schemeClr val="tx1"/>
                </a:solidFill>
                <a:latin typeface="Century Gothic"/>
                <a:cs typeface="Century Gothic"/>
              </a:rPr>
              <a:t> du titre</a:t>
            </a:r>
            <a:r>
              <a:rPr sz="2000" spc="-10">
                <a:solidFill>
                  <a:schemeClr val="tx1"/>
                </a:solidFill>
                <a:latin typeface="Century Gothic"/>
                <a:cs typeface="Century Gothic"/>
              </a:rPr>
              <a:t>.</a:t>
            </a:r>
            <a:endParaRPr lang="fr-FR" sz="2000" spc="-1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347345" marR="336550" indent="7620" algn="ctr">
              <a:lnSpc>
                <a:spcPct val="100000"/>
              </a:lnSpc>
              <a:spcBef>
                <a:spcPts val="300"/>
              </a:spcBef>
            </a:pPr>
            <a:endParaRPr sz="200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5E27330-3D1B-E64F-3CB8-B4B8EF8DDDEB}"/>
              </a:ext>
            </a:extLst>
          </p:cNvPr>
          <p:cNvSpPr/>
          <p:nvPr/>
        </p:nvSpPr>
        <p:spPr>
          <a:xfrm>
            <a:off x="6108065" y="4258848"/>
            <a:ext cx="884555" cy="456565"/>
          </a:xfrm>
          <a:custGeom>
            <a:avLst/>
            <a:gdLst/>
            <a:ahLst/>
            <a:cxnLst/>
            <a:rect l="l" t="t" r="r" b="b"/>
            <a:pathLst>
              <a:path w="884554" h="456564">
                <a:moveTo>
                  <a:pt x="884427" y="0"/>
                </a:moveTo>
                <a:lnTo>
                  <a:pt x="0" y="0"/>
                </a:lnTo>
                <a:lnTo>
                  <a:pt x="442086" y="456056"/>
                </a:lnTo>
                <a:lnTo>
                  <a:pt x="884427" y="0"/>
                </a:lnTo>
                <a:close/>
              </a:path>
            </a:pathLst>
          </a:custGeom>
          <a:solidFill>
            <a:srgbClr val="00EAFF"/>
          </a:solidFill>
          <a:ln>
            <a:solidFill>
              <a:srgbClr val="00EA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31323E36-6DF7-4C0F-DFEA-420E6CA49D64}"/>
              </a:ext>
            </a:extLst>
          </p:cNvPr>
          <p:cNvSpPr txBox="1"/>
          <p:nvPr/>
        </p:nvSpPr>
        <p:spPr>
          <a:xfrm>
            <a:off x="7848600" y="2478570"/>
            <a:ext cx="289814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entury Gothic"/>
                <a:cs typeface="Century Gothic"/>
              </a:rPr>
              <a:t>Transmis</a:t>
            </a:r>
            <a:r>
              <a:rPr sz="1800" spc="-40">
                <a:latin typeface="Century Gothic"/>
                <a:cs typeface="Century Gothic"/>
              </a:rPr>
              <a:t> </a:t>
            </a:r>
            <a:r>
              <a:rPr sz="1800">
                <a:latin typeface="Century Gothic"/>
                <a:cs typeface="Century Gothic"/>
              </a:rPr>
              <a:t>par</a:t>
            </a:r>
            <a:r>
              <a:rPr sz="1800" spc="-30">
                <a:latin typeface="Century Gothic"/>
                <a:cs typeface="Century Gothic"/>
              </a:rPr>
              <a:t> </a:t>
            </a:r>
            <a:r>
              <a:rPr sz="1800">
                <a:latin typeface="Century Gothic"/>
                <a:cs typeface="Century Gothic"/>
              </a:rPr>
              <a:t>mon</a:t>
            </a:r>
            <a:r>
              <a:rPr sz="1800" spc="-40">
                <a:latin typeface="Century Gothic"/>
                <a:cs typeface="Century Gothic"/>
              </a:rPr>
              <a:t> </a:t>
            </a:r>
            <a:r>
              <a:rPr sz="1800" spc="-10">
                <a:latin typeface="Century Gothic"/>
                <a:cs typeface="Century Gothic"/>
              </a:rPr>
              <a:t>campus </a:t>
            </a:r>
            <a:r>
              <a:rPr sz="1800">
                <a:latin typeface="Century Gothic"/>
                <a:cs typeface="Century Gothic"/>
              </a:rPr>
              <a:t>en</a:t>
            </a:r>
            <a:r>
              <a:rPr sz="1800" spc="-35">
                <a:latin typeface="Century Gothic"/>
                <a:cs typeface="Century Gothic"/>
              </a:rPr>
              <a:t> </a:t>
            </a:r>
            <a:r>
              <a:rPr sz="1800">
                <a:latin typeface="Century Gothic"/>
                <a:cs typeface="Century Gothic"/>
              </a:rPr>
              <a:t>début</a:t>
            </a:r>
            <a:r>
              <a:rPr sz="1800" spc="-20">
                <a:latin typeface="Century Gothic"/>
                <a:cs typeface="Century Gothic"/>
              </a:rPr>
              <a:t> </a:t>
            </a:r>
            <a:r>
              <a:rPr sz="1800">
                <a:latin typeface="Century Gothic"/>
                <a:cs typeface="Century Gothic"/>
              </a:rPr>
              <a:t>de</a:t>
            </a:r>
            <a:r>
              <a:rPr sz="1800" spc="-45">
                <a:latin typeface="Century Gothic"/>
                <a:cs typeface="Century Gothic"/>
              </a:rPr>
              <a:t> </a:t>
            </a:r>
            <a:r>
              <a:rPr sz="1800" spc="-10">
                <a:latin typeface="Century Gothic"/>
                <a:cs typeface="Century Gothic"/>
              </a:rPr>
              <a:t>formation</a:t>
            </a:r>
            <a:r>
              <a:rPr lang="fr-FR" sz="1800" spc="-10">
                <a:latin typeface="Century Gothic"/>
                <a:cs typeface="Century Gothic"/>
              </a:rPr>
              <a:t> et accessibles via la Toolbox apprenant</a:t>
            </a:r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D8FBA5EA-90EB-F6DA-B80B-5A19DFE8631B}"/>
              </a:ext>
            </a:extLst>
          </p:cNvPr>
          <p:cNvSpPr/>
          <p:nvPr/>
        </p:nvSpPr>
        <p:spPr>
          <a:xfrm>
            <a:off x="0" y="12573"/>
            <a:ext cx="989330" cy="2270760"/>
          </a:xfrm>
          <a:custGeom>
            <a:avLst/>
            <a:gdLst/>
            <a:ahLst/>
            <a:cxnLst/>
            <a:rect l="l" t="t" r="r" b="b"/>
            <a:pathLst>
              <a:path w="989330" h="2270760">
                <a:moveTo>
                  <a:pt x="988758" y="0"/>
                </a:moveTo>
                <a:lnTo>
                  <a:pt x="0" y="0"/>
                </a:lnTo>
                <a:lnTo>
                  <a:pt x="0" y="2270760"/>
                </a:lnTo>
                <a:lnTo>
                  <a:pt x="988758" y="0"/>
                </a:lnTo>
                <a:close/>
              </a:path>
            </a:pathLst>
          </a:custGeom>
          <a:solidFill>
            <a:srgbClr val="00E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Accolade fermante 3">
            <a:extLst>
              <a:ext uri="{FF2B5EF4-FFF2-40B4-BE49-F238E27FC236}">
                <a16:creationId xmlns:a16="http://schemas.microsoft.com/office/drawing/2014/main" id="{53D2C29A-63EB-B26D-A81D-B8782A1FBF7F}"/>
              </a:ext>
            </a:extLst>
          </p:cNvPr>
          <p:cNvSpPr/>
          <p:nvPr/>
        </p:nvSpPr>
        <p:spPr>
          <a:xfrm>
            <a:off x="6781800" y="2057400"/>
            <a:ext cx="381000" cy="196316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17297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95CE-F41E-C699-188E-7862610D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F33E56FA-F674-2310-1D9D-D206B81A0B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228" y="228624"/>
            <a:ext cx="10630992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>
                <a:latin typeface="Montserrat" panose="00000500000000000000" pitchFamily="2" charset="0"/>
              </a:rPr>
              <a:t>Les Conseils : le dépôt des livrables</a:t>
            </a:r>
            <a:endParaRPr>
              <a:latin typeface="Montserrat" panose="00000500000000000000" pitchFamily="2" charset="0"/>
              <a:cs typeface="Century Gothic"/>
            </a:endParaRP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F2D5647E-7068-36D9-2D1C-716FD6F19E4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283" y="4802073"/>
            <a:ext cx="1447800" cy="1685077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2489CA18-C36A-0B35-043B-84F833BCC75E}"/>
              </a:ext>
            </a:extLst>
          </p:cNvPr>
          <p:cNvSpPr txBox="1"/>
          <p:nvPr/>
        </p:nvSpPr>
        <p:spPr>
          <a:xfrm>
            <a:off x="2582926" y="4802073"/>
            <a:ext cx="8305800" cy="1685077"/>
          </a:xfrm>
          <a:prstGeom prst="rect">
            <a:avLst/>
          </a:prstGeom>
          <a:solidFill>
            <a:srgbClr val="00EAFF"/>
          </a:solidFill>
          <a:ln>
            <a:solidFill>
              <a:srgbClr val="00EA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40"/>
              </a:spcBef>
            </a:pPr>
            <a:endParaRPr lang="fr-FR" sz="20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8890" algn="ctr">
              <a:lnSpc>
                <a:spcPct val="100000"/>
              </a:lnSpc>
              <a:spcBef>
                <a:spcPts val="240"/>
              </a:spcBef>
            </a:pPr>
            <a:r>
              <a:rPr lang="fr-FR" sz="2000">
                <a:solidFill>
                  <a:schemeClr val="tx1"/>
                </a:solidFill>
                <a:latin typeface="Century Gothic"/>
                <a:cs typeface="Century Gothic"/>
              </a:rPr>
              <a:t>A défaut, </a:t>
            </a:r>
          </a:p>
          <a:p>
            <a:pPr marL="8890" algn="ctr">
              <a:lnSpc>
                <a:spcPct val="100000"/>
              </a:lnSpc>
              <a:spcBef>
                <a:spcPts val="240"/>
              </a:spcBef>
            </a:pPr>
            <a:r>
              <a:rPr lang="fr-FR" sz="2000">
                <a:solidFill>
                  <a:schemeClr val="tx1"/>
                </a:solidFill>
                <a:latin typeface="Century Gothic"/>
                <a:cs typeface="Century Gothic"/>
              </a:rPr>
              <a:t>le bloc sera invalidé </a:t>
            </a:r>
          </a:p>
          <a:p>
            <a:pPr marL="8890" algn="ctr">
              <a:lnSpc>
                <a:spcPct val="100000"/>
              </a:lnSpc>
              <a:spcBef>
                <a:spcPts val="240"/>
              </a:spcBef>
            </a:pPr>
            <a:r>
              <a:rPr lang="fr-FR" sz="2000">
                <a:solidFill>
                  <a:schemeClr val="tx1"/>
                </a:solidFill>
                <a:latin typeface="Century Gothic"/>
                <a:cs typeface="Century Gothic"/>
              </a:rPr>
              <a:t>par le jury d’évaluation</a:t>
            </a:r>
          </a:p>
          <a:p>
            <a:pPr marL="347345" marR="336550" indent="7620" algn="ctr">
              <a:lnSpc>
                <a:spcPct val="100000"/>
              </a:lnSpc>
              <a:spcBef>
                <a:spcPts val="300"/>
              </a:spcBef>
            </a:pPr>
            <a:endParaRPr sz="200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9627EA87-EB96-B2A6-7758-D1996363AC0F}"/>
              </a:ext>
            </a:extLst>
          </p:cNvPr>
          <p:cNvSpPr txBox="1"/>
          <p:nvPr/>
        </p:nvSpPr>
        <p:spPr>
          <a:xfrm>
            <a:off x="2628900" y="1339925"/>
            <a:ext cx="69342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fr-FR">
                <a:latin typeface="Montserrat" panose="00000500000000000000" pitchFamily="2" charset="0"/>
                <a:cs typeface="Century Gothic"/>
              </a:rPr>
              <a:t>Pour chaque bloc, j</a:t>
            </a:r>
            <a:r>
              <a:rPr>
                <a:latin typeface="Montserrat" panose="00000500000000000000" pitchFamily="2" charset="0"/>
                <a:cs typeface="Century Gothic"/>
              </a:rPr>
              <a:t>e</a:t>
            </a:r>
            <a:r>
              <a:rPr spc="290">
                <a:latin typeface="Montserrat" panose="00000500000000000000" pitchFamily="2" charset="0"/>
                <a:cs typeface="Century Gothic"/>
              </a:rPr>
              <a:t> </a:t>
            </a:r>
            <a:r>
              <a:rPr lang="fr-FR">
                <a:latin typeface="Montserrat" panose="00000500000000000000" pitchFamily="2" charset="0"/>
                <a:cs typeface="Century Gothic"/>
              </a:rPr>
              <a:t>dépose mes livrable(s) </a:t>
            </a:r>
            <a:r>
              <a:rPr lang="fr-FR" u="sng">
                <a:latin typeface="Montserrat" panose="00000500000000000000" pitchFamily="2" charset="0"/>
                <a:cs typeface="Century Gothic"/>
              </a:rPr>
              <a:t>ET</a:t>
            </a:r>
            <a:r>
              <a:rPr lang="fr-FR">
                <a:latin typeface="Montserrat" panose="00000500000000000000" pitchFamily="2" charset="0"/>
                <a:cs typeface="Century Gothic"/>
              </a:rPr>
              <a:t> support(s) de présentation (le cas échéant) sur la plateforme </a:t>
            </a:r>
            <a:r>
              <a:rPr lang="fr-FR" b="1" err="1">
                <a:latin typeface="Montserrat" panose="00000500000000000000" pitchFamily="2" charset="0"/>
                <a:cs typeface="Century Gothic"/>
              </a:rPr>
              <a:t>DigiformaCertif</a:t>
            </a:r>
            <a:r>
              <a:rPr lang="fr-FR">
                <a:latin typeface="Montserrat" panose="00000500000000000000" pitchFamily="2" charset="0"/>
                <a:cs typeface="Century Gothic"/>
              </a:rPr>
              <a:t> et </a:t>
            </a:r>
            <a:r>
              <a:rPr lang="fr-FR">
                <a:solidFill>
                  <a:srgbClr val="FF0000"/>
                </a:solidFill>
                <a:latin typeface="Montserrat" panose="00000500000000000000" pitchFamily="2" charset="0"/>
                <a:cs typeface="Century Gothic"/>
              </a:rPr>
              <a:t>dans le délai imparti.</a:t>
            </a:r>
            <a:endParaRPr>
              <a:solidFill>
                <a:srgbClr val="FF0000"/>
              </a:solidFill>
              <a:latin typeface="+mj-lt"/>
              <a:cs typeface="Century Gothic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E891BE13-B858-1AD3-BCB0-293CE27DE41C}"/>
              </a:ext>
            </a:extLst>
          </p:cNvPr>
          <p:cNvSpPr/>
          <p:nvPr/>
        </p:nvSpPr>
        <p:spPr>
          <a:xfrm>
            <a:off x="5901499" y="4114800"/>
            <a:ext cx="884555" cy="456565"/>
          </a:xfrm>
          <a:custGeom>
            <a:avLst/>
            <a:gdLst/>
            <a:ahLst/>
            <a:cxnLst/>
            <a:rect l="l" t="t" r="r" b="b"/>
            <a:pathLst>
              <a:path w="884554" h="456564">
                <a:moveTo>
                  <a:pt x="884427" y="0"/>
                </a:moveTo>
                <a:lnTo>
                  <a:pt x="0" y="0"/>
                </a:lnTo>
                <a:lnTo>
                  <a:pt x="442086" y="456056"/>
                </a:lnTo>
                <a:lnTo>
                  <a:pt x="884427" y="0"/>
                </a:lnTo>
                <a:close/>
              </a:path>
            </a:pathLst>
          </a:custGeom>
          <a:solidFill>
            <a:srgbClr val="00EAFF"/>
          </a:solidFill>
          <a:ln>
            <a:solidFill>
              <a:srgbClr val="00EA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17">
            <a:extLst>
              <a:ext uri="{FF2B5EF4-FFF2-40B4-BE49-F238E27FC236}">
                <a16:creationId xmlns:a16="http://schemas.microsoft.com/office/drawing/2014/main" id="{FBB6AC58-ED9B-9799-7521-57BAD30443CB}"/>
              </a:ext>
            </a:extLst>
          </p:cNvPr>
          <p:cNvSpPr/>
          <p:nvPr/>
        </p:nvSpPr>
        <p:spPr>
          <a:xfrm>
            <a:off x="0" y="12573"/>
            <a:ext cx="989330" cy="2270760"/>
          </a:xfrm>
          <a:custGeom>
            <a:avLst/>
            <a:gdLst/>
            <a:ahLst/>
            <a:cxnLst/>
            <a:rect l="l" t="t" r="r" b="b"/>
            <a:pathLst>
              <a:path w="989330" h="2270760">
                <a:moveTo>
                  <a:pt x="988758" y="0"/>
                </a:moveTo>
                <a:lnTo>
                  <a:pt x="0" y="0"/>
                </a:lnTo>
                <a:lnTo>
                  <a:pt x="0" y="2270760"/>
                </a:lnTo>
                <a:lnTo>
                  <a:pt x="988758" y="0"/>
                </a:lnTo>
                <a:close/>
              </a:path>
            </a:pathLst>
          </a:custGeom>
          <a:solidFill>
            <a:srgbClr val="00E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0462B9D5-A494-DA8E-7A90-7260C30D5EF1}"/>
              </a:ext>
            </a:extLst>
          </p:cNvPr>
          <p:cNvSpPr txBox="1"/>
          <p:nvPr/>
        </p:nvSpPr>
        <p:spPr>
          <a:xfrm>
            <a:off x="2743200" y="3280994"/>
            <a:ext cx="69342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fr-FR">
                <a:latin typeface="Montserrat" panose="00000500000000000000" pitchFamily="2" charset="0"/>
                <a:cs typeface="Century Gothic"/>
                <a:hlinkClick r:id="rId3"/>
              </a:rPr>
              <a:t>https://ynov.mycertif.app/selection-connexion</a:t>
            </a:r>
            <a:endParaRPr lang="fr-FR">
              <a:latin typeface="Montserrat" panose="00000500000000000000" pitchFamily="2" charset="0"/>
              <a:cs typeface="Century Gothic"/>
            </a:endParaRPr>
          </a:p>
          <a:p>
            <a:pPr marL="12700" algn="ctr">
              <a:lnSpc>
                <a:spcPct val="100000"/>
              </a:lnSpc>
              <a:spcBef>
                <a:spcPts val="100"/>
              </a:spcBef>
            </a:pPr>
            <a:endParaRPr>
              <a:solidFill>
                <a:srgbClr val="FF0000"/>
              </a:solidFill>
              <a:latin typeface="+mj-lt"/>
              <a:cs typeface="Century Gothic"/>
            </a:endParaRPr>
          </a:p>
        </p:txBody>
      </p:sp>
      <p:sp>
        <p:nvSpPr>
          <p:cNvPr id="5" name="object 12">
            <a:extLst>
              <a:ext uri="{FF2B5EF4-FFF2-40B4-BE49-F238E27FC236}">
                <a16:creationId xmlns:a16="http://schemas.microsoft.com/office/drawing/2014/main" id="{C46A10DA-6C3A-384E-5238-A2E12DF451E2}"/>
              </a:ext>
            </a:extLst>
          </p:cNvPr>
          <p:cNvSpPr/>
          <p:nvPr/>
        </p:nvSpPr>
        <p:spPr>
          <a:xfrm>
            <a:off x="5901499" y="2504087"/>
            <a:ext cx="884555" cy="456565"/>
          </a:xfrm>
          <a:custGeom>
            <a:avLst/>
            <a:gdLst/>
            <a:ahLst/>
            <a:cxnLst/>
            <a:rect l="l" t="t" r="r" b="b"/>
            <a:pathLst>
              <a:path w="884554" h="456564">
                <a:moveTo>
                  <a:pt x="884427" y="0"/>
                </a:moveTo>
                <a:lnTo>
                  <a:pt x="0" y="0"/>
                </a:lnTo>
                <a:lnTo>
                  <a:pt x="442086" y="456056"/>
                </a:lnTo>
                <a:lnTo>
                  <a:pt x="884427" y="0"/>
                </a:lnTo>
                <a:close/>
              </a:path>
            </a:pathLst>
          </a:custGeom>
          <a:solidFill>
            <a:srgbClr val="00EAFF"/>
          </a:solidFill>
          <a:ln>
            <a:solidFill>
              <a:srgbClr val="00EA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8278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D0ECD-59DC-F366-1DBA-339EEC83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E2537FE2-04F7-ACB9-6929-CD7CAB7011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73228" y="228624"/>
            <a:ext cx="10630992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 spc="-20">
                <a:latin typeface="Montserrat" panose="00000500000000000000" pitchFamily="2" charset="0"/>
              </a:rPr>
              <a:t>Conseils : Diplôme/titre prérequis</a:t>
            </a:r>
            <a:endParaRPr>
              <a:latin typeface="Montserrat" panose="00000500000000000000" pitchFamily="2" charset="0"/>
              <a:cs typeface="Century Gothic"/>
            </a:endParaRPr>
          </a:p>
        </p:txBody>
      </p:sp>
      <p:pic>
        <p:nvPicPr>
          <p:cNvPr id="2" name="object 7">
            <a:extLst>
              <a:ext uri="{FF2B5EF4-FFF2-40B4-BE49-F238E27FC236}">
                <a16:creationId xmlns:a16="http://schemas.microsoft.com/office/drawing/2014/main" id="{813A7C9D-5EFD-20DE-E0C3-3FD75884BE5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1283" y="4802073"/>
            <a:ext cx="1447800" cy="1685077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63602DB0-885A-79E2-149E-46793D8B3E07}"/>
              </a:ext>
            </a:extLst>
          </p:cNvPr>
          <p:cNvSpPr txBox="1"/>
          <p:nvPr/>
        </p:nvSpPr>
        <p:spPr>
          <a:xfrm>
            <a:off x="2582925" y="4802073"/>
            <a:ext cx="8487791" cy="1685077"/>
          </a:xfrm>
          <a:prstGeom prst="rect">
            <a:avLst/>
          </a:prstGeom>
          <a:solidFill>
            <a:srgbClr val="00EAFF"/>
          </a:solidFill>
          <a:ln>
            <a:solidFill>
              <a:srgbClr val="00EAFF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8890" algn="ctr">
              <a:lnSpc>
                <a:spcPct val="100000"/>
              </a:lnSpc>
              <a:spcBef>
                <a:spcPts val="240"/>
              </a:spcBef>
            </a:pPr>
            <a:endParaRPr lang="fr-FR" sz="2000">
              <a:solidFill>
                <a:schemeClr val="tx1"/>
              </a:solidFill>
              <a:latin typeface="Montserrat" panose="00000500000000000000" pitchFamily="2" charset="0"/>
              <a:cs typeface="Century Gothic"/>
            </a:endParaRPr>
          </a:p>
          <a:p>
            <a:pPr marL="8890" algn="ctr">
              <a:lnSpc>
                <a:spcPct val="100000"/>
              </a:lnSpc>
              <a:spcBef>
                <a:spcPts val="240"/>
              </a:spcBef>
            </a:pPr>
            <a:r>
              <a:rPr lang="fr-FR" sz="2000">
                <a:solidFill>
                  <a:schemeClr val="tx1"/>
                </a:solidFill>
                <a:latin typeface="Montserrat" panose="00000500000000000000" pitchFamily="2" charset="0"/>
                <a:cs typeface="Century Gothic"/>
              </a:rPr>
              <a:t>A défaut,</a:t>
            </a:r>
          </a:p>
          <a:p>
            <a:pPr marL="8890" algn="ctr">
              <a:lnSpc>
                <a:spcPct val="100000"/>
              </a:lnSpc>
              <a:spcBef>
                <a:spcPts val="240"/>
              </a:spcBef>
            </a:pPr>
            <a:r>
              <a:rPr lang="fr-FR" sz="2000">
                <a:solidFill>
                  <a:schemeClr val="tx1"/>
                </a:solidFill>
                <a:latin typeface="Montserrat" panose="00000500000000000000" pitchFamily="2" charset="0"/>
                <a:cs typeface="Century Gothic"/>
              </a:rPr>
              <a:t>je ne pourrai être présenté(e) </a:t>
            </a:r>
          </a:p>
          <a:p>
            <a:pPr marL="8890" algn="ctr">
              <a:lnSpc>
                <a:spcPct val="100000"/>
              </a:lnSpc>
              <a:spcBef>
                <a:spcPts val="240"/>
              </a:spcBef>
            </a:pPr>
            <a:r>
              <a:rPr lang="fr-FR" sz="2000">
                <a:solidFill>
                  <a:schemeClr val="tx1"/>
                </a:solidFill>
                <a:latin typeface="Montserrat" panose="00000500000000000000" pitchFamily="2" charset="0"/>
                <a:cs typeface="Century Gothic"/>
              </a:rPr>
              <a:t>au jury de certification.</a:t>
            </a:r>
            <a:endParaRPr lang="fr-FR" sz="2000">
              <a:solidFill>
                <a:schemeClr val="tx1"/>
              </a:solidFill>
              <a:latin typeface="Century Gothic"/>
              <a:cs typeface="Century Gothic"/>
            </a:endParaRPr>
          </a:p>
          <a:p>
            <a:pPr marL="347345" marR="336550" indent="7620" algn="ctr">
              <a:lnSpc>
                <a:spcPct val="100000"/>
              </a:lnSpc>
              <a:spcBef>
                <a:spcPts val="300"/>
              </a:spcBef>
            </a:pPr>
            <a:endParaRPr sz="2000">
              <a:solidFill>
                <a:schemeClr val="tx1"/>
              </a:solidFill>
              <a:latin typeface="Century Gothic"/>
              <a:cs typeface="Century Gothic"/>
            </a:endParaRPr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78A1DC7E-C726-C801-03E2-B3E4C2699A99}"/>
              </a:ext>
            </a:extLst>
          </p:cNvPr>
          <p:cNvSpPr/>
          <p:nvPr/>
        </p:nvSpPr>
        <p:spPr>
          <a:xfrm>
            <a:off x="6384542" y="3935033"/>
            <a:ext cx="884555" cy="456565"/>
          </a:xfrm>
          <a:custGeom>
            <a:avLst/>
            <a:gdLst/>
            <a:ahLst/>
            <a:cxnLst/>
            <a:rect l="l" t="t" r="r" b="b"/>
            <a:pathLst>
              <a:path w="884554" h="456564">
                <a:moveTo>
                  <a:pt x="884427" y="0"/>
                </a:moveTo>
                <a:lnTo>
                  <a:pt x="0" y="0"/>
                </a:lnTo>
                <a:lnTo>
                  <a:pt x="442086" y="456056"/>
                </a:lnTo>
                <a:lnTo>
                  <a:pt x="884427" y="0"/>
                </a:lnTo>
                <a:close/>
              </a:path>
            </a:pathLst>
          </a:custGeom>
          <a:solidFill>
            <a:srgbClr val="00EAFF"/>
          </a:solidFill>
          <a:ln>
            <a:solidFill>
              <a:srgbClr val="00EA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E51E8619-B583-2EAB-53E2-F2C23740B649}"/>
              </a:ext>
            </a:extLst>
          </p:cNvPr>
          <p:cNvSpPr txBox="1"/>
          <p:nvPr/>
        </p:nvSpPr>
        <p:spPr>
          <a:xfrm>
            <a:off x="3048000" y="1530403"/>
            <a:ext cx="7184517" cy="1898597"/>
          </a:xfrm>
          <a:prstGeom prst="rect">
            <a:avLst/>
          </a:prstGeom>
          <a:ln>
            <a:noFill/>
          </a:ln>
          <a:effectLst/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endParaRPr lang="fr-FR" sz="2000" i="1">
              <a:latin typeface="Montserrat" panose="00000500000000000000" pitchFamily="2" charset="0"/>
              <a:cs typeface="Century Gothic"/>
            </a:endParaRPr>
          </a:p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2000">
                <a:latin typeface="Montserrat" panose="00000500000000000000" pitchFamily="2" charset="0"/>
                <a:cs typeface="Century Gothic"/>
              </a:rPr>
              <a:t>Je</a:t>
            </a:r>
            <a:r>
              <a:rPr sz="2000" spc="225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m’assure</a:t>
            </a:r>
            <a:r>
              <a:rPr sz="2000" spc="195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d’avoir</a:t>
            </a:r>
            <a:r>
              <a:rPr sz="2000" spc="200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bien</a:t>
            </a:r>
            <a:r>
              <a:rPr sz="2000" spc="195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transmis</a:t>
            </a:r>
            <a:r>
              <a:rPr sz="2000" spc="190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à</a:t>
            </a:r>
            <a:r>
              <a:rPr sz="2000" spc="235">
                <a:latin typeface="Montserrat" panose="00000500000000000000" pitchFamily="2" charset="0"/>
                <a:cs typeface="Century Gothic"/>
              </a:rPr>
              <a:t> </a:t>
            </a:r>
            <a:r>
              <a:rPr sz="2000">
                <a:latin typeface="Montserrat" panose="00000500000000000000" pitchFamily="2" charset="0"/>
                <a:cs typeface="Century Gothic"/>
              </a:rPr>
              <a:t>mon</a:t>
            </a:r>
            <a:r>
              <a:rPr sz="2000" spc="220">
                <a:latin typeface="Montserrat" panose="00000500000000000000" pitchFamily="2" charset="0"/>
                <a:cs typeface="Century Gothic"/>
              </a:rPr>
              <a:t> </a:t>
            </a:r>
            <a:r>
              <a:rPr sz="2000" spc="-10">
                <a:latin typeface="Montserrat" panose="00000500000000000000" pitchFamily="2" charset="0"/>
                <a:cs typeface="Century Gothic"/>
              </a:rPr>
              <a:t>campus </a:t>
            </a:r>
            <a:r>
              <a:rPr sz="2000" err="1">
                <a:latin typeface="Montserrat" panose="00000500000000000000" pitchFamily="2" charset="0"/>
                <a:cs typeface="Century Gothic"/>
              </a:rPr>
              <a:t>mon</a:t>
            </a:r>
            <a:r>
              <a:rPr lang="fr-FR" sz="2000" spc="250">
                <a:latin typeface="Montserrat" panose="00000500000000000000" pitchFamily="2" charset="0"/>
                <a:cs typeface="Century Gothic"/>
              </a:rPr>
              <a:t> </a:t>
            </a:r>
            <a:r>
              <a:rPr sz="2000" b="1">
                <a:latin typeface="Montserrat" panose="00000500000000000000" pitchFamily="2" charset="0"/>
                <a:cs typeface="Century Gothic"/>
              </a:rPr>
              <a:t>diplôme/titre</a:t>
            </a:r>
            <a:r>
              <a:rPr sz="2000" b="1" spc="210">
                <a:latin typeface="Montserrat" panose="00000500000000000000" pitchFamily="2" charset="0"/>
                <a:cs typeface="Century Gothic"/>
              </a:rPr>
              <a:t> </a:t>
            </a:r>
            <a:r>
              <a:rPr sz="2000" b="1">
                <a:latin typeface="Montserrat" panose="00000500000000000000" pitchFamily="2" charset="0"/>
                <a:cs typeface="Century Gothic"/>
              </a:rPr>
              <a:t>prérequis</a:t>
            </a:r>
            <a:r>
              <a:rPr sz="2000" b="1" spc="200">
                <a:latin typeface="Montserrat" panose="00000500000000000000" pitchFamily="2" charset="0"/>
                <a:cs typeface="Century Gothic"/>
              </a:rPr>
              <a:t> </a:t>
            </a:r>
            <a:r>
              <a:rPr sz="2000" b="1">
                <a:latin typeface="Montserrat" panose="00000500000000000000" pitchFamily="2" charset="0"/>
                <a:cs typeface="Century Gothic"/>
              </a:rPr>
              <a:t>à</a:t>
            </a:r>
            <a:r>
              <a:rPr sz="2000" b="1" spc="270">
                <a:latin typeface="Montserrat" panose="00000500000000000000" pitchFamily="2" charset="0"/>
                <a:cs typeface="Century Gothic"/>
              </a:rPr>
              <a:t> </a:t>
            </a:r>
            <a:r>
              <a:rPr sz="2000" b="1">
                <a:latin typeface="Montserrat" panose="00000500000000000000" pitchFamily="2" charset="0"/>
                <a:cs typeface="Century Gothic"/>
              </a:rPr>
              <a:t>la</a:t>
            </a:r>
            <a:r>
              <a:rPr sz="2000" b="1" spc="250">
                <a:latin typeface="Montserrat" panose="00000500000000000000" pitchFamily="2" charset="0"/>
                <a:cs typeface="Century Gothic"/>
              </a:rPr>
              <a:t> </a:t>
            </a:r>
            <a:r>
              <a:rPr sz="2000" b="1" spc="-10">
                <a:latin typeface="Montserrat" panose="00000500000000000000" pitchFamily="2" charset="0"/>
              </a:rPr>
              <a:t>certification </a:t>
            </a:r>
            <a:r>
              <a:rPr lang="fr-FR" sz="2000" b="1" u="sng" spc="-10">
                <a:latin typeface="Montserrat" panose="00000500000000000000" pitchFamily="2" charset="0"/>
              </a:rPr>
              <a:t>dès la rentrée</a:t>
            </a:r>
            <a:r>
              <a:rPr sz="2000" b="1" u="sng" spc="-10">
                <a:latin typeface="Montserrat" panose="00000500000000000000" pitchFamily="2" charset="0"/>
              </a:rPr>
              <a:t> </a:t>
            </a:r>
            <a:endParaRPr lang="fr-FR" sz="2000" b="1" u="sng" spc="-10">
              <a:latin typeface="Montserrat" panose="00000500000000000000" pitchFamily="2" charset="0"/>
            </a:endParaRPr>
          </a:p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endParaRPr lang="fr-FR" sz="2000" b="1" spc="500">
              <a:latin typeface="Montserrat" panose="00000500000000000000" pitchFamily="2" charset="0"/>
              <a:cs typeface="Century Gothic"/>
            </a:endParaRPr>
          </a:p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endParaRPr sz="2000">
              <a:latin typeface="Montserrat" panose="00000500000000000000" pitchFamily="2" charset="0"/>
              <a:cs typeface="Century Gothic"/>
            </a:endParaRPr>
          </a:p>
        </p:txBody>
      </p:sp>
      <p:sp>
        <p:nvSpPr>
          <p:cNvPr id="4" name="object 17">
            <a:extLst>
              <a:ext uri="{FF2B5EF4-FFF2-40B4-BE49-F238E27FC236}">
                <a16:creationId xmlns:a16="http://schemas.microsoft.com/office/drawing/2014/main" id="{6F46314F-1E2E-2661-8C2B-C79215A69E45}"/>
              </a:ext>
            </a:extLst>
          </p:cNvPr>
          <p:cNvSpPr/>
          <p:nvPr/>
        </p:nvSpPr>
        <p:spPr>
          <a:xfrm>
            <a:off x="0" y="12573"/>
            <a:ext cx="989330" cy="2270760"/>
          </a:xfrm>
          <a:custGeom>
            <a:avLst/>
            <a:gdLst/>
            <a:ahLst/>
            <a:cxnLst/>
            <a:rect l="l" t="t" r="r" b="b"/>
            <a:pathLst>
              <a:path w="989330" h="2270760">
                <a:moveTo>
                  <a:pt x="988758" y="0"/>
                </a:moveTo>
                <a:lnTo>
                  <a:pt x="0" y="0"/>
                </a:lnTo>
                <a:lnTo>
                  <a:pt x="0" y="2270760"/>
                </a:lnTo>
                <a:lnTo>
                  <a:pt x="988758" y="0"/>
                </a:lnTo>
                <a:close/>
              </a:path>
            </a:pathLst>
          </a:custGeom>
          <a:solidFill>
            <a:srgbClr val="00EA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4564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18559"/>
      </p:ext>
    </p:extLst>
  </p:cSld>
  <p:clrMapOvr>
    <a:masterClrMapping/>
  </p:clrMapOvr>
</p:sld>
</file>

<file path=ppt/theme/theme1.xml><?xml version="1.0" encoding="utf-8"?>
<a:theme xmlns:a="http://schemas.openxmlformats.org/drawingml/2006/main" name="Animation&amp;Jeu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2" id="{C07B5807-2F0D-4C60-A773-D257105C4C25}" vid="{D3ED56A0-540D-4631-A597-BB51E1D7F6C5}"/>
    </a:ext>
  </a:extLst>
</a:theme>
</file>

<file path=ppt/theme/theme2.xml><?xml version="1.0" encoding="utf-8"?>
<a:theme xmlns:a="http://schemas.openxmlformats.org/drawingml/2006/main" name="1_Animation&amp;Jeu 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2" id="{C07B5807-2F0D-4C60-A773-D257105C4C25}" vid="{D3ED56A0-540D-4631-A597-BB51E1D7F6C5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75CF805FB44204D93EB320F51B1C4F7" ma:contentTypeVersion="0" ma:contentTypeDescription="Crée un document." ma:contentTypeScope="" ma:versionID="06db0997c72b25b2003be2dae0dbd95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9a6fe2a7d9dc96896303587bf0a7fa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DD7BEDF8-56BE-4C51-B832-A3A6A4E46203}">
  <ds:schemaRefs>
    <ds:schemaRef ds:uri="11399b42-56c9-44ff-9016-8ae70501af32"/>
    <ds:schemaRef ds:uri="81d943eb-53de-4d5a-93c5-961cb00f222e"/>
    <ds:schemaRef ds:uri="d068e648-32f8-481f-a8f5-3ea019f54b7d"/>
    <ds:schemaRef ds:uri="f2c841d9-878d-400c-bac0-4e58b9c15a4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B0F660D-D05F-47E8-BCB9-14E98008DF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293FF2-0F53-48CD-AAA7-922F5C7F42ED}"/>
</file>

<file path=customXml/itemProps4.xml><?xml version="1.0" encoding="utf-8"?>
<ds:datastoreItem xmlns:ds="http://schemas.openxmlformats.org/officeDocument/2006/customXml" ds:itemID="{C8837F2A-3DB5-4569-9F44-2ED0CC705B4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837</Words>
  <Application>Microsoft Office PowerPoint</Application>
  <PresentationFormat>Grand écran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13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Century Gothic</vt:lpstr>
      <vt:lpstr>Montserrat</vt:lpstr>
      <vt:lpstr>Source Sans Pro Light</vt:lpstr>
      <vt:lpstr>Times New Roman</vt:lpstr>
      <vt:lpstr>Wingdings</vt:lpstr>
      <vt:lpstr>Animation&amp;Jeu </vt:lpstr>
      <vt:lpstr>1_Animation&amp;Jeu </vt:lpstr>
      <vt:lpstr>Présentation PowerPoint</vt:lpstr>
      <vt:lpstr>Présentation PowerPoint</vt:lpstr>
      <vt:lpstr>Présentation PowerPoint</vt:lpstr>
      <vt:lpstr>Les blocs de compétences du titre</vt:lpstr>
      <vt:lpstr>Modalités des épreuves certificatives</vt:lpstr>
      <vt:lpstr>Présentation PowerPoint</vt:lpstr>
      <vt:lpstr>Les jurys d’évaluation et de certification</vt:lpstr>
      <vt:lpstr>Les grands principes d’évaluation</vt:lpstr>
      <vt:lpstr>Présentation PowerPoint</vt:lpstr>
      <vt:lpstr>Les Conseils : la documentation de référence</vt:lpstr>
      <vt:lpstr>Les Conseils : le dépôt des livrables</vt:lpstr>
      <vt:lpstr>Conseils : Diplôme/titre prérequis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Règlement Général sur la Protection des Données</dc:title>
  <dc:creator>Rania de LOPEZ</dc:creator>
  <cp:lastModifiedBy>TIXIER Sophie</cp:lastModifiedBy>
  <cp:revision>16</cp:revision>
  <dcterms:created xsi:type="dcterms:W3CDTF">2018-05-16T14:07:13Z</dcterms:created>
  <dcterms:modified xsi:type="dcterms:W3CDTF">2025-10-27T10:25:46Z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8288500</vt:r8>
  </property>
  <property fmtid="{D5CDD505-2E9C-101B-9397-08002B2CF9AE}" pid="3" name="ComplianceAssetId">
    <vt:lpwstr/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MediaServiceImageTags">
    <vt:lpwstr/>
  </property>
  <property fmtid="{D5CDD505-2E9C-101B-9397-08002B2CF9AE}" pid="7" name="ContentTypeId">
    <vt:lpwstr>0x010100275CF805FB44204D93EB320F51B1C4F7</vt:lpwstr>
  </property>
  <property fmtid="{D5CDD505-2E9C-101B-9397-08002B2CF9AE}" pid="8" name="_dlc_DocIdItemGuid">
    <vt:lpwstr>079dc3e2-37b4-4d46-aa8d-9b763fedcea0</vt:lpwstr>
  </property>
</Properties>
</file>